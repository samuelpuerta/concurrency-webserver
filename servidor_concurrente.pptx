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7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6" d="100"/>
          <a:sy n="106" d="100"/>
        </p:scale>
        <p:origin x="682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4766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498080" y="411480"/>
            <a:ext cx="164592" cy="16459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818120" y="411480"/>
            <a:ext cx="164592" cy="164592"/>
          </a:xfrm>
          <a:prstGeom prst="ellipse">
            <a:avLst/>
          </a:prstGeom>
          <a:solidFill>
            <a:srgbClr val="1A3068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8138160" y="411480"/>
            <a:ext cx="164592" cy="164592"/>
          </a:xfrm>
          <a:prstGeom prst="ellipse">
            <a:avLst/>
          </a:prstGeom>
          <a:solidFill>
            <a:srgbClr val="1A3068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8458200" y="411480"/>
            <a:ext cx="164592" cy="164592"/>
          </a:xfrm>
          <a:prstGeom prst="ellipse">
            <a:avLst/>
          </a:prstGeom>
          <a:solidFill>
            <a:srgbClr val="1A3068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73069" y="1343639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Web Concurrente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73069" y="2091879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Scheduling FIFO y SFF (OSTEP PROJECTS)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3069" y="31195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Puerta Patiño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220460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2204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CONTENIDO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743557" y="10515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partida: Estado del servidor original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002945"/>
            <a:ext cx="8229600" cy="3035399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594360" y="2131191"/>
            <a:ext cx="384048" cy="38404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94360" y="213119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7430" y="2163195"/>
            <a:ext cx="370460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r>
              <a:rPr lang="en-US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original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5018" y="2558699"/>
            <a:ext cx="7813963" cy="23193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funcionaba el servidor original. Tenía un único hilo de ejecución es decir, una sola línea de trabajo que avanzaba de forma secuencial y ese hilo hacía todo:</a:t>
            </a:r>
          </a:p>
          <a:p>
            <a:pPr marL="0" indent="0">
              <a:buNone/>
            </a:pPr>
            <a:endParaRPr lang="es-CO" sz="1600" dirty="0">
              <a:solidFill>
                <a:srgbClr val="0020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CO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Esperaba que llegara una conexión de red (el cliente tocando la puerta).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CO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Leía el pedido HTTP completo (el cliente explicando qué quiere).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CO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Buscaba el archivo en el disco (el cajero revisando en el sistema).Enviaba el archivo por la red (el cajero entregando el dinero).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CO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Cerraba la conexión.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CO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Recién entonces atendía al siguiente.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D6F5BA-EF46-66FB-47FA-032E4DADE10C}"/>
              </a:ext>
            </a:extLst>
          </p:cNvPr>
          <p:cNvSpPr txBox="1"/>
          <p:nvPr/>
        </p:nvSpPr>
        <p:spPr>
          <a:xfrm>
            <a:off x="457200" y="597940"/>
            <a:ext cx="8229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s-CO" sz="16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arquitectura funciona como una ventanilla de banco con un solo cajero. Cuando llega un cliente, el cajero lo atiende de principio a fin: lo saluda, revisa su cuenta, hace la transacción, imprime el comprobante y se despide. Solo cuando ese cliente se va, el cajero voltea a ver al siguiente. Si alguien llega con un trámite complejo que tarda 5 minutos, todos los demás esperan 5 minutos parados en la fila.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031534" cy="256032"/>
          </a:xfrm>
          <a:prstGeom prst="rect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315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CONTENIDO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549190" y="128016"/>
            <a:ext cx="71376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4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conceptual: modelo productor-consumidor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28600" y="853037"/>
            <a:ext cx="8686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s-CO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transformación que se hizo se basa en un patrón clásico de sistemas concurrentes llamado productor-consumidor. Volviendo al banco: la solución no es hacer que el cajero trabaje más rápido. Es contratar más cajeros y poner una sala de espera organizada.</a:t>
            </a:r>
          </a:p>
          <a:p>
            <a:pPr marL="0" indent="0" algn="just">
              <a:buNone/>
            </a:pPr>
            <a:endParaRPr lang="es-CO" sz="1600" dirty="0">
              <a:solidFill>
                <a:srgbClr val="0020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es-CO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servidor, las piezas equivalentes son: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38176" y="1941173"/>
            <a:ext cx="493662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38176" y="1941173"/>
            <a:ext cx="62389" cy="804672"/>
          </a:xfrm>
          <a:prstGeom prst="rect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502768" y="2124053"/>
            <a:ext cx="401073" cy="411480"/>
          </a:xfrm>
          <a:prstGeom prst="ellipse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02768" y="2124053"/>
            <a:ext cx="40107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33119" y="2005181"/>
            <a:ext cx="4151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600" b="1" dirty="0">
                <a:solidFill>
                  <a:srgbClr val="1A2A4A"/>
                </a:solidFill>
              </a:rPr>
              <a:t>La recepcionista → el hilo principal (</a:t>
            </a:r>
            <a:r>
              <a:rPr lang="es-CO" sz="1600" b="1" dirty="0" err="1">
                <a:solidFill>
                  <a:srgbClr val="1A2A4A"/>
                </a:solidFill>
              </a:rPr>
              <a:t>acceptor</a:t>
            </a:r>
            <a:r>
              <a:rPr lang="es-CO" sz="1600" b="1" dirty="0">
                <a:solidFill>
                  <a:srgbClr val="1A2A4A"/>
                </a:solidFill>
              </a:rPr>
              <a:t>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33119" y="2325221"/>
            <a:ext cx="4151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dirty="0">
                <a:solidFill>
                  <a:srgbClr val="5A7298"/>
                </a:solidFill>
              </a:rPr>
              <a:t>Acepta conexiones y lee el pedido HTTP.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8176" y="2883005"/>
            <a:ext cx="493662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338176" y="2883005"/>
            <a:ext cx="62389" cy="804672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502768" y="3065885"/>
            <a:ext cx="401073" cy="411480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502768" y="3065885"/>
            <a:ext cx="40107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33119" y="2947013"/>
            <a:ext cx="4151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600" b="1" dirty="0">
                <a:solidFill>
                  <a:srgbClr val="1A2A4A"/>
                </a:solidFill>
              </a:rPr>
              <a:t> La sala de espera → el buffer compartido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33119" y="3267053"/>
            <a:ext cx="4151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dirty="0">
                <a:solidFill>
                  <a:srgbClr val="5A7298"/>
                </a:solidFill>
              </a:rPr>
              <a:t>Una estructura de datos en memoria donde se guardan los pedidos pendientes.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38176" y="3824837"/>
            <a:ext cx="493662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7" name="Shape 35"/>
          <p:cNvSpPr/>
          <p:nvPr/>
        </p:nvSpPr>
        <p:spPr>
          <a:xfrm>
            <a:off x="338176" y="3824837"/>
            <a:ext cx="62389" cy="804672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Shape 36"/>
          <p:cNvSpPr/>
          <p:nvPr/>
        </p:nvSpPr>
        <p:spPr>
          <a:xfrm>
            <a:off x="502768" y="4007717"/>
            <a:ext cx="401073" cy="411480"/>
          </a:xfrm>
          <a:prstGeom prst="ellipse">
            <a:avLst/>
          </a:prstGeom>
          <a:solidFill>
            <a:srgbClr val="00B050"/>
          </a:solidFill>
          <a:ln w="12700">
            <a:noFill/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39" name="Text 37"/>
          <p:cNvSpPr/>
          <p:nvPr/>
        </p:nvSpPr>
        <p:spPr>
          <a:xfrm>
            <a:off x="502768" y="4007717"/>
            <a:ext cx="401073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33119" y="3888845"/>
            <a:ext cx="4151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600" b="1" dirty="0">
                <a:solidFill>
                  <a:srgbClr val="1A2A4A"/>
                </a:solidFill>
              </a:rPr>
              <a:t>Los cajeros → el pool de </a:t>
            </a:r>
            <a:r>
              <a:rPr lang="es-CO" sz="1600" b="1" dirty="0" err="1">
                <a:solidFill>
                  <a:srgbClr val="1A2A4A"/>
                </a:solidFill>
              </a:rPr>
              <a:t>worker</a:t>
            </a:r>
            <a:r>
              <a:rPr lang="es-CO" sz="1600" b="1" dirty="0">
                <a:solidFill>
                  <a:srgbClr val="1A2A4A"/>
                </a:solidFill>
              </a:rPr>
              <a:t> </a:t>
            </a:r>
            <a:r>
              <a:rPr lang="es-CO" sz="1600" b="1" dirty="0" err="1">
                <a:solidFill>
                  <a:srgbClr val="1A2A4A"/>
                </a:solidFill>
              </a:rPr>
              <a:t>threads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33119" y="4208885"/>
            <a:ext cx="4151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dirty="0">
                <a:solidFill>
                  <a:srgbClr val="5A7298"/>
                </a:solidFill>
              </a:rPr>
              <a:t>Un conjunto fijo de hilos que trabajan en paralelo y van tomando pedidos del buffer.</a:t>
            </a:r>
            <a:endParaRPr lang="en-US" sz="1100" dirty="0"/>
          </a:p>
        </p:txBody>
      </p:sp>
      <p:sp>
        <p:nvSpPr>
          <p:cNvPr id="43" name="Shape 6">
            <a:extLst>
              <a:ext uri="{FF2B5EF4-FFF2-40B4-BE49-F238E27FC236}">
                <a16:creationId xmlns:a16="http://schemas.microsoft.com/office/drawing/2014/main" id="{BF85B043-C1AB-4AE4-EC02-FCAF128836DA}"/>
              </a:ext>
            </a:extLst>
          </p:cNvPr>
          <p:cNvSpPr/>
          <p:nvPr/>
        </p:nvSpPr>
        <p:spPr>
          <a:xfrm>
            <a:off x="5661754" y="1970872"/>
            <a:ext cx="3144070" cy="2736664"/>
          </a:xfrm>
          <a:prstGeom prst="rect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 anchor="ctr"/>
          <a:lstStyle/>
          <a:p>
            <a:pPr algn="ctr"/>
            <a:r>
              <a:rPr lang="es-CO" sz="1600" dirty="0">
                <a:solidFill>
                  <a:srgbClr val="FFFFFF"/>
                </a:solidFill>
              </a:rPr>
              <a:t>Este diseño tiene una propiedad muy poderosa: la recepcionista nunca se bloquea atendiendo, así que puede procesar nuevas conexiones casi tan rápido como llegan. Y los cajeros nunca compiten por la puerta, así que pueden trabajar simultáneamente sin estorbarse.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56032"/>
          </a:xfrm>
          <a:prstGeom prst="rect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01 · ANTES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55772" y="123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Original: Monohilo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948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wserver.c antes de la </a:t>
            </a:r>
            <a:r>
              <a:rPr lang="en-US" sz="1600" dirty="0" err="1">
                <a:solidFill>
                  <a:srgbClr val="5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intervención</a:t>
            </a:r>
            <a:r>
              <a:rPr lang="en-US" sz="1600" dirty="0">
                <a:solidFill>
                  <a:srgbClr val="5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un único hilo lo </a:t>
            </a:r>
            <a:r>
              <a:rPr lang="en-US" sz="1600" dirty="0" err="1">
                <a:solidFill>
                  <a:srgbClr val="5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</a:t>
            </a:r>
            <a:r>
              <a:rPr lang="en-US" sz="1600" dirty="0">
                <a:solidFill>
                  <a:srgbClr val="5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5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r>
              <a:rPr lang="en-US" sz="1600" dirty="0">
                <a:solidFill>
                  <a:srgbClr val="5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51145" y="1307592"/>
            <a:ext cx="4565644" cy="348394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67306" y="1783080"/>
            <a:ext cx="4254227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wserver.c ORIGINAL
</a:t>
            </a:r>
            <a:r>
              <a:rPr lang="en-US" sz="14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4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main(argc, argv) {
</a:t>
            </a:r>
            <a:r>
              <a:rPr lang="en-US" sz="14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chdir_or_die</a:t>
            </a:r>
            <a:r>
              <a:rPr lang="en-US" sz="14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(root_dir);
</a:t>
            </a:r>
            <a:r>
              <a:rPr lang="en-US" sz="14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</a:t>
            </a:r>
            <a:r>
              <a:rPr lang="en-US" sz="14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listen_fd = </a:t>
            </a:r>
            <a:r>
              <a:rPr lang="en-US" sz="14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open_listen_fd_or_die</a:t>
            </a:r>
            <a:r>
              <a:rPr lang="en-US" sz="14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(port);
</a:t>
            </a:r>
            <a:r>
              <a:rPr lang="en-US" sz="14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</a:t>
            </a:r>
            <a:r>
              <a:rPr lang="en-US" sz="14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(1) {              // ① acepta
    conn_fd = </a:t>
            </a:r>
            <a:r>
              <a:rPr lang="en-US" sz="14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accept_or_die</a:t>
            </a:r>
            <a:r>
              <a:rPr lang="en-US" sz="14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(...);
</a:t>
            </a:r>
            <a:r>
              <a:rPr lang="en-US" sz="1400" dirty="0">
                <a:solidFill>
                  <a:srgbClr val="EF5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request_handle</a:t>
            </a:r>
            <a:r>
              <a:rPr lang="en-US" sz="14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(conn_fd);  // ② atiende
</a:t>
            </a:r>
            <a:r>
              <a:rPr lang="en-US" sz="14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close_or_die</a:t>
            </a:r>
            <a:r>
              <a:rPr lang="en-US" sz="14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(conn_fd);  // ③ cierra
 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0" y="1325880"/>
            <a:ext cx="3474720" cy="502920"/>
          </a:xfrm>
          <a:prstGeom prst="rect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9" name="Text 7"/>
          <p:cNvSpPr/>
          <p:nvPr/>
        </p:nvSpPr>
        <p:spPr>
          <a:xfrm>
            <a:off x="5029200" y="13258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accept()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66560" y="1828800"/>
            <a:ext cx="0" cy="182880"/>
          </a:xfrm>
          <a:prstGeom prst="line">
            <a:avLst/>
          </a:prstGeom>
          <a:noFill/>
          <a:ln w="25400">
            <a:solidFill>
              <a:srgbClr val="90A4C8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11" name="Shape 9"/>
          <p:cNvSpPr/>
          <p:nvPr/>
        </p:nvSpPr>
        <p:spPr>
          <a:xfrm>
            <a:off x="5029200" y="2011680"/>
            <a:ext cx="3474720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12" name="Text 10"/>
          <p:cNvSpPr/>
          <p:nvPr/>
        </p:nvSpPr>
        <p:spPr>
          <a:xfrm>
            <a:off x="502920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request_handle()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2514600"/>
            <a:ext cx="0" cy="182880"/>
          </a:xfrm>
          <a:prstGeom prst="line">
            <a:avLst/>
          </a:prstGeom>
          <a:noFill/>
          <a:ln w="25400">
            <a:solidFill>
              <a:srgbClr val="90A4C8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14" name="Shape 12"/>
          <p:cNvSpPr/>
          <p:nvPr/>
        </p:nvSpPr>
        <p:spPr>
          <a:xfrm>
            <a:off x="5029200" y="2697480"/>
            <a:ext cx="3474720" cy="502920"/>
          </a:xfrm>
          <a:prstGeom prst="rect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15" name="Text 13"/>
          <p:cNvSpPr/>
          <p:nvPr/>
        </p:nvSpPr>
        <p:spPr>
          <a:xfrm>
            <a:off x="5029200" y="2697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close()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66560" y="3200400"/>
            <a:ext cx="0" cy="182880"/>
          </a:xfrm>
          <a:prstGeom prst="line">
            <a:avLst/>
          </a:prstGeom>
          <a:noFill/>
          <a:ln w="25400">
            <a:solidFill>
              <a:srgbClr val="90A4C8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17" name="Shape 15"/>
          <p:cNvSpPr/>
          <p:nvPr/>
        </p:nvSpPr>
        <p:spPr>
          <a:xfrm>
            <a:off x="5029200" y="3383280"/>
            <a:ext cx="3474720" cy="502920"/>
          </a:xfrm>
          <a:prstGeom prst="rect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18" name="Text 16"/>
          <p:cNvSpPr/>
          <p:nvPr/>
        </p:nvSpPr>
        <p:spPr>
          <a:xfrm>
            <a:off x="5029200" y="3383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← siguiente conexión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37760" y="4069080"/>
            <a:ext cx="3749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sz="2400"/>
          </a:p>
        </p:txBody>
      </p:sp>
      <p:sp>
        <p:nvSpPr>
          <p:cNvPr id="20" name="Shape 18"/>
          <p:cNvSpPr/>
          <p:nvPr/>
        </p:nvSpPr>
        <p:spPr>
          <a:xfrm>
            <a:off x="4937760" y="4069080"/>
            <a:ext cx="64008" cy="8229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21" name="Text 19"/>
          <p:cNvSpPr/>
          <p:nvPr/>
        </p:nvSpPr>
        <p:spPr>
          <a:xfrm>
            <a:off x="5074920" y="41148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Mientras request_handle() trabaja, ninguna otra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puede aceptarse. Todo lo demás espera.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56032"/>
          </a:xfrm>
          <a:prstGeom prst="rect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03 · CAMBIOS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331342" y="12344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Completo de Modificaciones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3322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7298"/>
                </a:solidFill>
              </a:rPr>
              <a:t>Qué existía, qué se agregó y qué cambió en cada archivo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9422" y="1060704"/>
            <a:ext cx="1463040" cy="347472"/>
          </a:xfrm>
          <a:prstGeom prst="rect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7" name="Text 5"/>
          <p:cNvSpPr/>
          <p:nvPr/>
        </p:nvSpPr>
        <p:spPr>
          <a:xfrm>
            <a:off x="615142" y="106070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Archivo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59894" y="1060704"/>
            <a:ext cx="1234440" cy="347472"/>
          </a:xfrm>
          <a:prstGeom prst="rect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9" name="Text 7"/>
          <p:cNvSpPr/>
          <p:nvPr/>
        </p:nvSpPr>
        <p:spPr>
          <a:xfrm>
            <a:off x="2105614" y="106070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Estado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21766" y="1060704"/>
            <a:ext cx="5303520" cy="347472"/>
          </a:xfrm>
          <a:prstGeom prst="rect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11" name="Text 9"/>
          <p:cNvSpPr/>
          <p:nvPr/>
        </p:nvSpPr>
        <p:spPr>
          <a:xfrm>
            <a:off x="3367486" y="1060704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Cambio principal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63782" y="1060704"/>
            <a:ext cx="914400" cy="347472"/>
          </a:xfrm>
          <a:prstGeom prst="rect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13" name="Text 11"/>
          <p:cNvSpPr/>
          <p:nvPr/>
        </p:nvSpPr>
        <p:spPr>
          <a:xfrm>
            <a:off x="0" y="1234440"/>
            <a:ext cx="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9422" y="1408176"/>
            <a:ext cx="1463040" cy="438912"/>
          </a:xfrm>
          <a:prstGeom prst="rect">
            <a:avLst/>
          </a:prstGeom>
          <a:solidFill>
            <a:srgbClr val="F0F4FC"/>
          </a:solidFill>
          <a:ln w="12700">
            <a:solidFill>
              <a:srgbClr val="DDE6F5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15" name="Shape 13"/>
          <p:cNvSpPr/>
          <p:nvPr/>
        </p:nvSpPr>
        <p:spPr>
          <a:xfrm>
            <a:off x="2059894" y="1408176"/>
            <a:ext cx="1234440" cy="438912"/>
          </a:xfrm>
          <a:prstGeom prst="rect">
            <a:avLst/>
          </a:prstGeom>
          <a:solidFill>
            <a:srgbClr val="F0F4FC"/>
          </a:solidFill>
          <a:ln w="12700">
            <a:solidFill>
              <a:srgbClr val="DDE6F5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16" name="Shape 14"/>
          <p:cNvSpPr/>
          <p:nvPr/>
        </p:nvSpPr>
        <p:spPr>
          <a:xfrm>
            <a:off x="3321766" y="1408176"/>
            <a:ext cx="5303520" cy="438912"/>
          </a:xfrm>
          <a:prstGeom prst="rect">
            <a:avLst/>
          </a:prstGeom>
          <a:solidFill>
            <a:srgbClr val="F0F4FC"/>
          </a:solidFill>
          <a:ln w="12700">
            <a:solidFill>
              <a:srgbClr val="DDE6F5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17" name="Text 15"/>
          <p:cNvSpPr/>
          <p:nvPr/>
        </p:nvSpPr>
        <p:spPr>
          <a:xfrm>
            <a:off x="642574" y="1408176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wserver.c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133046" y="1499616"/>
            <a:ext cx="1078992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19" name="Text 17"/>
          <p:cNvSpPr/>
          <p:nvPr/>
        </p:nvSpPr>
        <p:spPr>
          <a:xfrm>
            <a:off x="2133046" y="149961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MODIFICADO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13206" y="1408176"/>
            <a:ext cx="5166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F72"/>
                </a:solidFill>
              </a:rPr>
              <a:t>Argparse extendido · Pool de threads · Acceptor loop → buffer_put()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9422" y="1847088"/>
            <a:ext cx="1463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22" name="Shape 20"/>
          <p:cNvSpPr/>
          <p:nvPr/>
        </p:nvSpPr>
        <p:spPr>
          <a:xfrm>
            <a:off x="2059894" y="1847088"/>
            <a:ext cx="1234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23" name="Shape 21"/>
          <p:cNvSpPr/>
          <p:nvPr/>
        </p:nvSpPr>
        <p:spPr>
          <a:xfrm>
            <a:off x="3321766" y="1847088"/>
            <a:ext cx="5303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24" name="Text 22"/>
          <p:cNvSpPr/>
          <p:nvPr/>
        </p:nvSpPr>
        <p:spPr>
          <a:xfrm>
            <a:off x="642574" y="1847088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request.h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133046" y="1938528"/>
            <a:ext cx="1078992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26" name="Text 24"/>
          <p:cNvSpPr/>
          <p:nvPr/>
        </p:nvSpPr>
        <p:spPr>
          <a:xfrm>
            <a:off x="2133046" y="193852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MODIFICADO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13206" y="1847088"/>
            <a:ext cx="5166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F72"/>
                </a:solidFill>
              </a:rPr>
              <a:t>Nueva struct request_t con conn_fd, filename, filesize · Prototipos request_parse / request_serve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9422" y="2286000"/>
            <a:ext cx="1463040" cy="438912"/>
          </a:xfrm>
          <a:prstGeom prst="rect">
            <a:avLst/>
          </a:prstGeom>
          <a:solidFill>
            <a:srgbClr val="F0F4FC"/>
          </a:solidFill>
          <a:ln w="12700">
            <a:solidFill>
              <a:srgbClr val="DDE6F5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29" name="Shape 27"/>
          <p:cNvSpPr/>
          <p:nvPr/>
        </p:nvSpPr>
        <p:spPr>
          <a:xfrm>
            <a:off x="2059894" y="2286000"/>
            <a:ext cx="1234440" cy="438912"/>
          </a:xfrm>
          <a:prstGeom prst="rect">
            <a:avLst/>
          </a:prstGeom>
          <a:solidFill>
            <a:srgbClr val="F0F4FC"/>
          </a:solidFill>
          <a:ln w="12700">
            <a:solidFill>
              <a:srgbClr val="DDE6F5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30" name="Shape 28"/>
          <p:cNvSpPr/>
          <p:nvPr/>
        </p:nvSpPr>
        <p:spPr>
          <a:xfrm>
            <a:off x="3321766" y="2286000"/>
            <a:ext cx="5303520" cy="438912"/>
          </a:xfrm>
          <a:prstGeom prst="rect">
            <a:avLst/>
          </a:prstGeom>
          <a:solidFill>
            <a:srgbClr val="F0F4FC"/>
          </a:solidFill>
          <a:ln w="12700">
            <a:solidFill>
              <a:srgbClr val="DDE6F5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31" name="Text 29"/>
          <p:cNvSpPr/>
          <p:nvPr/>
        </p:nvSpPr>
        <p:spPr>
          <a:xfrm>
            <a:off x="642574" y="2286000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request.c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133046" y="2377440"/>
            <a:ext cx="1078992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33" name="Text 31"/>
          <p:cNvSpPr/>
          <p:nvPr/>
        </p:nvSpPr>
        <p:spPr>
          <a:xfrm>
            <a:off x="2133046" y="237744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MODIFICADO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13206" y="2286000"/>
            <a:ext cx="5166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F72"/>
                </a:solidFill>
              </a:rPr>
              <a:t>Se añaden request_parse() (parseo en acceptor) y request_serve() (despacho en worker). request_handle() se conserva.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69422" y="2724912"/>
            <a:ext cx="1463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36" name="Shape 34"/>
          <p:cNvSpPr/>
          <p:nvPr/>
        </p:nvSpPr>
        <p:spPr>
          <a:xfrm>
            <a:off x="2059894" y="2724912"/>
            <a:ext cx="1234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37" name="Shape 35"/>
          <p:cNvSpPr/>
          <p:nvPr/>
        </p:nvSpPr>
        <p:spPr>
          <a:xfrm>
            <a:off x="3321766" y="2724912"/>
            <a:ext cx="5303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38" name="Text 36"/>
          <p:cNvSpPr/>
          <p:nvPr/>
        </p:nvSpPr>
        <p:spPr>
          <a:xfrm>
            <a:off x="642574" y="2724912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buffer.h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133046" y="2816352"/>
            <a:ext cx="1078992" cy="25603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40" name="Text 38"/>
          <p:cNvSpPr/>
          <p:nvPr/>
        </p:nvSpPr>
        <p:spPr>
          <a:xfrm>
            <a:off x="2133046" y="281635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CREADO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13206" y="2724912"/>
            <a:ext cx="5166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F72"/>
                </a:solidFill>
              </a:rPr>
              <a:t>API del buffer compartido: buffer_init, buffer_put, buffer_get, buffer_destroy · Enum policy_t FIFO/SFF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69422" y="3163824"/>
            <a:ext cx="1463040" cy="438912"/>
          </a:xfrm>
          <a:prstGeom prst="rect">
            <a:avLst/>
          </a:prstGeom>
          <a:solidFill>
            <a:srgbClr val="F0F4FC"/>
          </a:solidFill>
          <a:ln w="12700">
            <a:solidFill>
              <a:srgbClr val="DDE6F5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43" name="Shape 41"/>
          <p:cNvSpPr/>
          <p:nvPr/>
        </p:nvSpPr>
        <p:spPr>
          <a:xfrm>
            <a:off x="2059894" y="3163824"/>
            <a:ext cx="1234440" cy="438912"/>
          </a:xfrm>
          <a:prstGeom prst="rect">
            <a:avLst/>
          </a:prstGeom>
          <a:solidFill>
            <a:srgbClr val="F0F4FC"/>
          </a:solidFill>
          <a:ln w="12700">
            <a:solidFill>
              <a:srgbClr val="DDE6F5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44" name="Shape 42"/>
          <p:cNvSpPr/>
          <p:nvPr/>
        </p:nvSpPr>
        <p:spPr>
          <a:xfrm>
            <a:off x="3321766" y="3163824"/>
            <a:ext cx="5303520" cy="438912"/>
          </a:xfrm>
          <a:prstGeom prst="rect">
            <a:avLst/>
          </a:prstGeom>
          <a:solidFill>
            <a:srgbClr val="F0F4FC"/>
          </a:solidFill>
          <a:ln w="12700">
            <a:solidFill>
              <a:srgbClr val="DDE6F5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45" name="Text 43"/>
          <p:cNvSpPr/>
          <p:nvPr/>
        </p:nvSpPr>
        <p:spPr>
          <a:xfrm>
            <a:off x="642574" y="3163824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buffer.c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133046" y="3255264"/>
            <a:ext cx="1078992" cy="25603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47" name="Text 45"/>
          <p:cNvSpPr/>
          <p:nvPr/>
        </p:nvSpPr>
        <p:spPr>
          <a:xfrm>
            <a:off x="2133046" y="325526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CREADO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413206" y="3163824"/>
            <a:ext cx="5166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F72"/>
                </a:solidFill>
              </a:rPr>
              <a:t>Buffer circular con mutex + cond_vars. FIFO O(1). SFF O(n) con compactación in-place del arreglo circular.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69422" y="3602736"/>
            <a:ext cx="1463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50" name="Shape 48"/>
          <p:cNvSpPr/>
          <p:nvPr/>
        </p:nvSpPr>
        <p:spPr>
          <a:xfrm>
            <a:off x="2059894" y="3602736"/>
            <a:ext cx="1234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51" name="Shape 49"/>
          <p:cNvSpPr/>
          <p:nvPr/>
        </p:nvSpPr>
        <p:spPr>
          <a:xfrm>
            <a:off x="3321766" y="3602736"/>
            <a:ext cx="5303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52" name="Text 50"/>
          <p:cNvSpPr/>
          <p:nvPr/>
        </p:nvSpPr>
        <p:spPr>
          <a:xfrm>
            <a:off x="642574" y="3602736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Makefile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133046" y="3694176"/>
            <a:ext cx="1078992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54" name="Text 52"/>
          <p:cNvSpPr/>
          <p:nvPr/>
        </p:nvSpPr>
        <p:spPr>
          <a:xfrm>
            <a:off x="2133046" y="369417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MODIFICADO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413206" y="3602736"/>
            <a:ext cx="5166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F72"/>
                </a:solidFill>
              </a:rPr>
              <a:t>Se </a:t>
            </a:r>
            <a:r>
              <a:rPr lang="en-US" sz="1050" dirty="0" err="1">
                <a:solidFill>
                  <a:srgbClr val="3A4F72"/>
                </a:solidFill>
              </a:rPr>
              <a:t>organiza</a:t>
            </a:r>
            <a:r>
              <a:rPr lang="en-US" sz="1050" dirty="0">
                <a:solidFill>
                  <a:srgbClr val="3A4F72"/>
                </a:solidFill>
              </a:rPr>
              <a:t> la </a:t>
            </a:r>
            <a:r>
              <a:rPr lang="en-US" sz="1050" dirty="0" err="1">
                <a:solidFill>
                  <a:srgbClr val="3A4F72"/>
                </a:solidFill>
              </a:rPr>
              <a:t>compilación</a:t>
            </a:r>
            <a:r>
              <a:rPr lang="en-US" sz="1050" dirty="0">
                <a:solidFill>
                  <a:srgbClr val="3A4F72"/>
                </a:solidFill>
              </a:rPr>
              <a:t>, </a:t>
            </a:r>
            <a:r>
              <a:rPr lang="en-US" sz="1050" dirty="0" err="1">
                <a:solidFill>
                  <a:srgbClr val="3A4F72"/>
                </a:solidFill>
              </a:rPr>
              <a:t>buffer.o</a:t>
            </a:r>
            <a:r>
              <a:rPr lang="en-US" sz="1050" dirty="0">
                <a:solidFill>
                  <a:srgbClr val="3A4F72"/>
                </a:solidFill>
              </a:rPr>
              <a:t> añadido a dependencias del servidor · Regla %.o modernizada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69422" y="4041648"/>
            <a:ext cx="1463040" cy="438912"/>
          </a:xfrm>
          <a:prstGeom prst="rect">
            <a:avLst/>
          </a:prstGeom>
          <a:solidFill>
            <a:srgbClr val="F0F4FC"/>
          </a:solidFill>
          <a:ln w="12700">
            <a:solidFill>
              <a:srgbClr val="DDE6F5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57" name="Shape 55"/>
          <p:cNvSpPr/>
          <p:nvPr/>
        </p:nvSpPr>
        <p:spPr>
          <a:xfrm>
            <a:off x="2059894" y="4041648"/>
            <a:ext cx="1234440" cy="438912"/>
          </a:xfrm>
          <a:prstGeom prst="rect">
            <a:avLst/>
          </a:prstGeom>
          <a:solidFill>
            <a:srgbClr val="F0F4FC"/>
          </a:solidFill>
          <a:ln w="12700">
            <a:solidFill>
              <a:srgbClr val="DDE6F5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58" name="Shape 56"/>
          <p:cNvSpPr/>
          <p:nvPr/>
        </p:nvSpPr>
        <p:spPr>
          <a:xfrm>
            <a:off x="3321766" y="4041648"/>
            <a:ext cx="5303520" cy="438912"/>
          </a:xfrm>
          <a:prstGeom prst="rect">
            <a:avLst/>
          </a:prstGeom>
          <a:solidFill>
            <a:srgbClr val="F0F4FC"/>
          </a:solidFill>
          <a:ln w="12700">
            <a:solidFill>
              <a:srgbClr val="DDE6F5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59" name="Text 57"/>
          <p:cNvSpPr/>
          <p:nvPr/>
        </p:nvSpPr>
        <p:spPr>
          <a:xfrm>
            <a:off x="642574" y="4041648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io_helper.c/.h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133046" y="4133088"/>
            <a:ext cx="1078992" cy="256032"/>
          </a:xfrm>
          <a:prstGeom prst="rect">
            <a:avLst/>
          </a:prstGeom>
          <a:solidFill>
            <a:srgbClr val="757575"/>
          </a:solidFill>
          <a:ln w="12700">
            <a:solidFill>
              <a:srgbClr val="757575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61" name="Text 59"/>
          <p:cNvSpPr/>
          <p:nvPr/>
        </p:nvSpPr>
        <p:spPr>
          <a:xfrm>
            <a:off x="2133046" y="413308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SIN CAMBIOS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413206" y="4041648"/>
            <a:ext cx="5166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F72"/>
                </a:solidFill>
              </a:rPr>
              <a:t>Todos los wrappers de sockets y helpers reutilizados sin modificación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569422" y="4480560"/>
            <a:ext cx="1463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64" name="Shape 62"/>
          <p:cNvSpPr/>
          <p:nvPr/>
        </p:nvSpPr>
        <p:spPr>
          <a:xfrm>
            <a:off x="2059894" y="4480560"/>
            <a:ext cx="1234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65" name="Shape 63"/>
          <p:cNvSpPr/>
          <p:nvPr/>
        </p:nvSpPr>
        <p:spPr>
          <a:xfrm>
            <a:off x="3321766" y="4480560"/>
            <a:ext cx="5303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66" name="Text 64"/>
          <p:cNvSpPr/>
          <p:nvPr/>
        </p:nvSpPr>
        <p:spPr>
          <a:xfrm>
            <a:off x="642574" y="4480560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spin.c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2133046" y="4572000"/>
            <a:ext cx="1078992" cy="256032"/>
          </a:xfrm>
          <a:prstGeom prst="rect">
            <a:avLst/>
          </a:prstGeom>
          <a:solidFill>
            <a:srgbClr val="757575"/>
          </a:solidFill>
          <a:ln w="12700">
            <a:solidFill>
              <a:srgbClr val="757575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68" name="Text 66"/>
          <p:cNvSpPr/>
          <p:nvPr/>
        </p:nvSpPr>
        <p:spPr>
          <a:xfrm>
            <a:off x="2133046" y="457200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SIN CAMBIOS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3413206" y="4480560"/>
            <a:ext cx="5166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F72"/>
                </a:solidFill>
              </a:rPr>
              <a:t>CGI de spin conservado como validación funcional de la ruta dinámica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56032"/>
          </a:xfrm>
          <a:prstGeom prst="rect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03 · REQUEST.H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165087" y="92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request.h — La Estructura que Une Todo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81341"/>
            <a:ext cx="8229600" cy="783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CO" sz="1600" dirty="0"/>
              <a:t>Una estructura es simplemente un grupo de campos relacionados empaquetados juntos, como las filas de una tabla. Antes no existía nada así; toda la información viajaba implícitamente dentro de la función que hacía todo el trabajo. Ahora existe explícitamente y contiene: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0190" y="1728216"/>
            <a:ext cx="4750572" cy="2843784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85333" y="2333307"/>
            <a:ext cx="4560286" cy="163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
    int  </a:t>
            </a:r>
            <a:r>
              <a:rPr lang="en-US" sz="14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conn_fd;         </a:t>
            </a:r>
            <a:r>
              <a:rPr lang="en-US" sz="1400" dirty="0">
                <a:solidFill>
                  <a:srgbClr val="6A9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socket aceptado
</a:t>
            </a:r>
            <a:r>
              <a:rPr lang="en-US" sz="14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</a:t>
            </a:r>
            <a:r>
              <a:rPr lang="en-US" sz="14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filename[MAXBUF]; </a:t>
            </a:r>
            <a:r>
              <a:rPr lang="en-US" sz="1400" dirty="0">
                <a:solidFill>
                  <a:srgbClr val="6A9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ruta resuelta
</a:t>
            </a:r>
            <a:r>
              <a:rPr lang="en-US" sz="14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</a:t>
            </a:r>
            <a:r>
              <a:rPr lang="en-US" sz="14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cgiargs[MAXBUF];  </a:t>
            </a:r>
            <a:r>
              <a:rPr lang="en-US" sz="1400" dirty="0">
                <a:solidFill>
                  <a:srgbClr val="6A9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query string CGI
</a:t>
            </a:r>
            <a:r>
              <a:rPr lang="en-US" sz="14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</a:t>
            </a:r>
            <a:r>
              <a:rPr lang="en-US" sz="14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is_static;       </a:t>
            </a:r>
            <a:r>
              <a:rPr lang="en-US" sz="1400" dirty="0">
                <a:solidFill>
                  <a:srgbClr val="6A9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1=static 0=CGI
</a:t>
            </a:r>
            <a:r>
              <a:rPr lang="en-US" sz="14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</a:t>
            </a:r>
            <a:r>
              <a:rPr lang="en-US" sz="1400" dirty="0">
                <a:solidFill>
                  <a:srgbClr val="EF5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filesize;        // ← clave para SFF
</a:t>
            </a:r>
            <a:r>
              <a:rPr lang="en-US" sz="14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4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request_t</a:t>
            </a:r>
            <a:r>
              <a:rPr lang="en-US" sz="14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241930" y="1627632"/>
            <a:ext cx="36118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sz="2400"/>
          </a:p>
        </p:txBody>
      </p:sp>
      <p:sp>
        <p:nvSpPr>
          <p:cNvPr id="9" name="Shape 7"/>
          <p:cNvSpPr/>
          <p:nvPr/>
        </p:nvSpPr>
        <p:spPr>
          <a:xfrm>
            <a:off x="5241930" y="1627632"/>
            <a:ext cx="64008" cy="694944"/>
          </a:xfrm>
          <a:prstGeom prst="rect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10" name="Text 8"/>
          <p:cNvSpPr/>
          <p:nvPr/>
        </p:nvSpPr>
        <p:spPr>
          <a:xfrm>
            <a:off x="5424810" y="166420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conn_fd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24810" y="189280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F72"/>
                </a:solidFill>
              </a:rPr>
              <a:t>Socket del cliente. Los workers usan este fd para escribir la respuesta HTTP sin volver al acceptor.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41930" y="2450592"/>
            <a:ext cx="36118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sz="2400"/>
          </a:p>
        </p:txBody>
      </p:sp>
      <p:sp>
        <p:nvSpPr>
          <p:cNvPr id="13" name="Shape 11"/>
          <p:cNvSpPr/>
          <p:nvPr/>
        </p:nvSpPr>
        <p:spPr>
          <a:xfrm>
            <a:off x="5241930" y="2450592"/>
            <a:ext cx="64008" cy="694944"/>
          </a:xfrm>
          <a:prstGeom prst="rect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14" name="Text 12"/>
          <p:cNvSpPr/>
          <p:nvPr/>
        </p:nvSpPr>
        <p:spPr>
          <a:xfrm>
            <a:off x="5424810" y="248716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filename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24810" y="27157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F72"/>
                </a:solidFill>
              </a:rPr>
              <a:t>Ruta resuelta por request_parse_uri() antes de encolar. No se recalcula en los workers.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41930" y="3273552"/>
            <a:ext cx="36118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sz="2400"/>
          </a:p>
        </p:txBody>
      </p:sp>
      <p:sp>
        <p:nvSpPr>
          <p:cNvPr id="17" name="Shape 15"/>
          <p:cNvSpPr/>
          <p:nvPr/>
        </p:nvSpPr>
        <p:spPr>
          <a:xfrm>
            <a:off x="5241930" y="3273552"/>
            <a:ext cx="64008" cy="694944"/>
          </a:xfrm>
          <a:prstGeom prst="rect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18" name="Text 16"/>
          <p:cNvSpPr/>
          <p:nvPr/>
        </p:nvSpPr>
        <p:spPr>
          <a:xfrm>
            <a:off x="5424810" y="331012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is_static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24810" y="353872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F72"/>
                </a:solidFill>
              </a:rPr>
              <a:t>Flag calculado en el acceptor. Decide si el worker llama serve_static() o serve_dynamic().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241930" y="4096512"/>
            <a:ext cx="36118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sz="2400"/>
          </a:p>
        </p:txBody>
      </p:sp>
      <p:sp>
        <p:nvSpPr>
          <p:cNvPr id="21" name="Shape 19"/>
          <p:cNvSpPr/>
          <p:nvPr/>
        </p:nvSpPr>
        <p:spPr>
          <a:xfrm>
            <a:off x="5241930" y="4096512"/>
            <a:ext cx="64008" cy="69494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22" name="Text 20"/>
          <p:cNvSpPr/>
          <p:nvPr/>
        </p:nvSpPr>
        <p:spPr>
          <a:xfrm>
            <a:off x="5424810" y="413308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filesize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24810" y="43616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F72"/>
                </a:solidFill>
              </a:rPr>
              <a:t>st_size del resultado de stat(). El scheduler SFF usa este campo para ordenar la cola por tamaño ascendente.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56032"/>
          </a:xfrm>
          <a:prstGeom prst="rect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03 · REQUEST.C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34235" y="10058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request.c — División de Responsabilidades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29768" y="2162406"/>
            <a:ext cx="4114800" cy="384048"/>
          </a:xfrm>
          <a:prstGeom prst="rect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7" name="Text 5"/>
          <p:cNvSpPr/>
          <p:nvPr/>
        </p:nvSpPr>
        <p:spPr>
          <a:xfrm>
            <a:off x="429768" y="216240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request_parse()  ← corre en el ACCEPTOR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" y="2573885"/>
            <a:ext cx="4114800" cy="241375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9" name="Text 7"/>
          <p:cNvSpPr/>
          <p:nvPr/>
        </p:nvSpPr>
        <p:spPr>
          <a:xfrm>
            <a:off x="566928" y="2715618"/>
            <a:ext cx="384048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2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request_parse</a:t>
            </a: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 fd, request_t *req) {
</a:t>
            </a:r>
            <a:r>
              <a:rPr lang="en-US" sz="12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readline_or_die</a:t>
            </a: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(fd, buf, ...);
</a:t>
            </a:r>
            <a:r>
              <a:rPr lang="en-US" sz="12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sscanf</a:t>
            </a: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(buf, "%s %s %s", method, uri...);
</a:t>
            </a:r>
            <a:r>
              <a:rPr lang="en-US" sz="12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</a:t>
            </a: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(strcasecmp(method, "GET")) {
</a:t>
            </a:r>
            <a:r>
              <a:rPr lang="en-US" sz="1200" dirty="0">
                <a:solidFill>
                  <a:srgbClr val="EF5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request_error</a:t>
            </a: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(..., "501", ...); </a:t>
            </a:r>
            <a:r>
              <a:rPr lang="en-US" sz="12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-1; }
</a:t>
            </a:r>
            <a:r>
              <a:rPr lang="en-US" sz="12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request_read_headers</a:t>
            </a: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(fd);
</a:t>
            </a:r>
            <a:r>
              <a:rPr lang="en-US" sz="12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request_parse_uri</a:t>
            </a: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(uri, filename, cgiargs);
</a:t>
            </a:r>
            <a:r>
              <a:rPr lang="en-US" sz="12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</a:t>
            </a: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(filename, &amp;sbuf);
</a:t>
            </a:r>
            <a:r>
              <a:rPr lang="en-US" sz="1200" dirty="0">
                <a:solidFill>
                  <a:srgbClr val="EF5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req-&gt;filesize = sbuf.st_size; </a:t>
            </a:r>
            <a:r>
              <a:rPr lang="en-US" sz="1200" dirty="0">
                <a:solidFill>
                  <a:srgbClr val="6A9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SFF
</a:t>
            </a:r>
            <a:r>
              <a:rPr lang="en-US" sz="12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27448" y="2162406"/>
            <a:ext cx="4114800" cy="38404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11" name="Text 9"/>
          <p:cNvSpPr/>
          <p:nvPr/>
        </p:nvSpPr>
        <p:spPr>
          <a:xfrm>
            <a:off x="4727448" y="216240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request_serve()  ← corre en cada WORKER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27448" y="2573886"/>
            <a:ext cx="4114800" cy="241375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13" name="Text 11"/>
          <p:cNvSpPr/>
          <p:nvPr/>
        </p:nvSpPr>
        <p:spPr>
          <a:xfrm>
            <a:off x="4956048" y="2690718"/>
            <a:ext cx="384048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request_serve</a:t>
            </a: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(request_t *req) {
</a:t>
            </a: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</a:t>
            </a: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(req-&gt;is_static) {
</a:t>
            </a: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request_serve_static</a:t>
            </a: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      req-&gt;conn_fd,
      req-&gt;filename,
      req-&gt;filesize);
  } else {
</a:t>
            </a: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request_serve_dynamic</a:t>
            </a: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      req-&gt;conn_fd, req-&gt;filename,
      req-&gt;cgiargs);
  }
</a:t>
            </a: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close_or_die</a:t>
            </a: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(req-&gt;conn_fd);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44568" y="2162406"/>
            <a:ext cx="0" cy="2587752"/>
          </a:xfrm>
          <a:prstGeom prst="line">
            <a:avLst/>
          </a:prstGeom>
          <a:noFill/>
          <a:ln w="12700">
            <a:solidFill>
              <a:srgbClr val="90A4C8"/>
            </a:solidFill>
            <a:prstDash val="dash"/>
          </a:ln>
        </p:spPr>
        <p:txBody>
          <a:bodyPr/>
          <a:lstStyle/>
          <a:p>
            <a:endParaRPr lang="es-CO" sz="2400"/>
          </a:p>
        </p:txBody>
      </p:sp>
      <p:sp>
        <p:nvSpPr>
          <p:cNvPr id="15" name="Shape 13"/>
          <p:cNvSpPr/>
          <p:nvPr/>
        </p:nvSpPr>
        <p:spPr>
          <a:xfrm>
            <a:off x="429768" y="591999"/>
            <a:ext cx="4114800" cy="133293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sz="2800"/>
          </a:p>
        </p:txBody>
      </p:sp>
      <p:sp>
        <p:nvSpPr>
          <p:cNvPr id="16" name="Shape 14"/>
          <p:cNvSpPr/>
          <p:nvPr/>
        </p:nvSpPr>
        <p:spPr>
          <a:xfrm>
            <a:off x="429768" y="591999"/>
            <a:ext cx="64008" cy="1332930"/>
          </a:xfrm>
          <a:prstGeom prst="rect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 sz="2800"/>
          </a:p>
        </p:txBody>
      </p:sp>
      <p:sp>
        <p:nvSpPr>
          <p:cNvPr id="17" name="Text 15"/>
          <p:cNvSpPr/>
          <p:nvPr/>
        </p:nvSpPr>
        <p:spPr>
          <a:xfrm>
            <a:off x="658368" y="637718"/>
            <a:ext cx="3749040" cy="1181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CO" sz="1400" dirty="0"/>
              <a:t>Esta función corre en el hilo principal y tiene una misión muy específica: leer el pedido HTTP entrante, entenderlo y empacar todo lo necesario en la tarjeta </a:t>
            </a:r>
            <a:r>
              <a:rPr lang="es-CO" sz="1400" dirty="0" err="1"/>
              <a:t>request_t</a:t>
            </a:r>
            <a:r>
              <a:rPr lang="es-CO" sz="1400" dirty="0"/>
              <a:t>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27448" y="591999"/>
            <a:ext cx="4114800" cy="133293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sz="2800"/>
          </a:p>
        </p:txBody>
      </p:sp>
      <p:sp>
        <p:nvSpPr>
          <p:cNvPr id="19" name="Shape 17"/>
          <p:cNvSpPr/>
          <p:nvPr/>
        </p:nvSpPr>
        <p:spPr>
          <a:xfrm>
            <a:off x="4727448" y="591999"/>
            <a:ext cx="64008" cy="133293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s-CO" sz="2800"/>
          </a:p>
        </p:txBody>
      </p:sp>
      <p:sp>
        <p:nvSpPr>
          <p:cNvPr id="20" name="Text 18"/>
          <p:cNvSpPr/>
          <p:nvPr/>
        </p:nvSpPr>
        <p:spPr>
          <a:xfrm>
            <a:off x="4956048" y="637718"/>
            <a:ext cx="3749040" cy="1181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CO" sz="1400" dirty="0"/>
              <a:t>Esta función corre en los </a:t>
            </a:r>
            <a:r>
              <a:rPr lang="es-CO" sz="1400" dirty="0" err="1"/>
              <a:t>workers</a:t>
            </a:r>
            <a:r>
              <a:rPr lang="es-CO" sz="1400" dirty="0"/>
              <a:t> y también tiene una misión única: tomar la tarjeta que le entrega el buffer y ejecutar el trabajo real.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56032"/>
          </a:xfrm>
          <a:prstGeom prst="rect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03 · BUFFER.C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165087" y="1143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buffer.c — El Corazón de la Concurrencia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09804"/>
            <a:ext cx="82296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600" dirty="0">
                <a:solidFill>
                  <a:srgbClr val="002060"/>
                </a:solidFill>
              </a:rPr>
              <a:t>Esta es la pieza central de toda la concurrencia. El buffer es una estructura de datos en memoria que vive entre el </a:t>
            </a:r>
            <a:r>
              <a:rPr lang="es-CO" sz="1600" dirty="0" err="1">
                <a:solidFill>
                  <a:srgbClr val="002060"/>
                </a:solidFill>
              </a:rPr>
              <a:t>acceptor</a:t>
            </a:r>
            <a:r>
              <a:rPr lang="es-CO" sz="1600" dirty="0">
                <a:solidFill>
                  <a:srgbClr val="002060"/>
                </a:solidFill>
              </a:rPr>
              <a:t> y los </a:t>
            </a:r>
            <a:r>
              <a:rPr lang="es-CO" sz="1600" dirty="0" err="1">
                <a:solidFill>
                  <a:srgbClr val="002060"/>
                </a:solidFill>
              </a:rPr>
              <a:t>workers</a:t>
            </a:r>
            <a:r>
              <a:rPr lang="es-CO" sz="1600" dirty="0">
                <a:solidFill>
                  <a:srgbClr val="002060"/>
                </a:solidFill>
              </a:rPr>
              <a:t>. Es la sala de espera del servidor</a:t>
            </a:r>
            <a:r>
              <a:rPr lang="en-US" sz="1600" dirty="0">
                <a:solidFill>
                  <a:srgbClr val="002060"/>
                </a:solidFill>
              </a:rPr>
              <a:t>. Implementa el patrón Productor-</a:t>
            </a:r>
            <a:r>
              <a:rPr lang="en-US" sz="1600" dirty="0" err="1">
                <a:solidFill>
                  <a:srgbClr val="002060"/>
                </a:solidFill>
              </a:rPr>
              <a:t>Consumidor</a:t>
            </a:r>
            <a:r>
              <a:rPr lang="en-US" sz="1600" dirty="0">
                <a:solidFill>
                  <a:srgbClr val="002060"/>
                </a:solidFill>
              </a:rPr>
              <a:t>. </a:t>
            </a:r>
            <a:r>
              <a:rPr lang="es-CO" sz="1600" dirty="0">
                <a:solidFill>
                  <a:srgbClr val="002060"/>
                </a:solidFill>
              </a:rPr>
              <a:t>El buffer es un arreglo circular de posiciones fijas.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3112081"/>
            <a:ext cx="4206240" cy="82368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65760" y="3112081"/>
            <a:ext cx="64008" cy="823685"/>
          </a:xfrm>
          <a:prstGeom prst="rect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48640" y="3171649"/>
            <a:ext cx="3931920" cy="185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buffer_init(cap, policy)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3348585"/>
            <a:ext cx="3931920" cy="5140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F72"/>
                </a:solidFill>
              </a:rPr>
              <a:t>Asigna el arreglo de slots con malloc(). Registra la capacidad y la política (POLICY_FIFO o POLICY_SFF). Debe llamarse una vez antes de crear los workers.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3112081"/>
            <a:ext cx="4206240" cy="82368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754880" y="3112081"/>
            <a:ext cx="64008" cy="823685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937760" y="3189016"/>
            <a:ext cx="3931920" cy="185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buffer_put(request_t *req)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19472" y="3348585"/>
            <a:ext cx="3931920" cy="5140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F72"/>
                </a:solidFill>
              </a:rPr>
              <a:t>Corre en el ACCEPTOR. Espera (pthread_cond_wait) si el buffer está lleno. Copia la estructura por valor al slot tail y avanza tail. Señaliza not_empty.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4091215"/>
            <a:ext cx="4206240" cy="82368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sz="2400"/>
          </a:p>
        </p:txBody>
      </p:sp>
      <p:sp>
        <p:nvSpPr>
          <p:cNvPr id="15" name="Shape 13"/>
          <p:cNvSpPr/>
          <p:nvPr/>
        </p:nvSpPr>
        <p:spPr>
          <a:xfrm>
            <a:off x="365760" y="4091215"/>
            <a:ext cx="64008" cy="823685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16" name="Text 14"/>
          <p:cNvSpPr/>
          <p:nvPr/>
        </p:nvSpPr>
        <p:spPr>
          <a:xfrm>
            <a:off x="548640" y="4189231"/>
            <a:ext cx="3931920" cy="185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buffer_get(void)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" y="4327719"/>
            <a:ext cx="3931920" cy="5140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F72"/>
                </a:solidFill>
              </a:rPr>
              <a:t>Corre en los WORKERS. Espera si el buffer está vacío. Selecciona y retira un slot según la política activa. Señaliza not_full al salir.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4091215"/>
            <a:ext cx="4206240" cy="82368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sz="2400"/>
          </a:p>
        </p:txBody>
      </p:sp>
      <p:sp>
        <p:nvSpPr>
          <p:cNvPr id="19" name="Shape 17"/>
          <p:cNvSpPr/>
          <p:nvPr/>
        </p:nvSpPr>
        <p:spPr>
          <a:xfrm>
            <a:off x="4754880" y="4091215"/>
            <a:ext cx="64008" cy="823685"/>
          </a:xfrm>
          <a:prstGeom prst="rect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20" name="Text 18"/>
          <p:cNvSpPr/>
          <p:nvPr/>
        </p:nvSpPr>
        <p:spPr>
          <a:xfrm>
            <a:off x="4937760" y="4241302"/>
            <a:ext cx="3931920" cy="185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buffer_destroy()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19472" y="4327719"/>
            <a:ext cx="3931920" cy="5140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F72"/>
                </a:solidFill>
              </a:rPr>
              <a:t>Libera la memoria del arreglo. Llamado al terminar el servidor.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9768" y="1587935"/>
            <a:ext cx="8412480" cy="145099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sz="3600"/>
          </a:p>
        </p:txBody>
      </p:sp>
      <p:sp>
        <p:nvSpPr>
          <p:cNvPr id="25" name="Text 23"/>
          <p:cNvSpPr/>
          <p:nvPr/>
        </p:nvSpPr>
        <p:spPr>
          <a:xfrm>
            <a:off x="548640" y="1674804"/>
            <a:ext cx="8229600" cy="1259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400" b="1" dirty="0">
                <a:solidFill>
                  <a:srgbClr val="1A3068"/>
                </a:solidFill>
              </a:rPr>
              <a:t>Un </a:t>
            </a:r>
            <a:r>
              <a:rPr lang="es-CO" sz="1400" b="1" dirty="0" err="1">
                <a:solidFill>
                  <a:srgbClr val="1A3068"/>
                </a:solidFill>
              </a:rPr>
              <a:t>mutex</a:t>
            </a:r>
            <a:r>
              <a:rPr lang="es-CO" sz="1400" b="1" dirty="0">
                <a:solidFill>
                  <a:srgbClr val="1A3068"/>
                </a:solidFill>
              </a:rPr>
              <a:t> (mutual </a:t>
            </a:r>
            <a:r>
              <a:rPr lang="es-CO" sz="1400" b="1" dirty="0" err="1">
                <a:solidFill>
                  <a:srgbClr val="1A3068"/>
                </a:solidFill>
              </a:rPr>
              <a:t>exclusion</a:t>
            </a:r>
            <a:r>
              <a:rPr lang="es-CO" sz="1400" b="1" dirty="0">
                <a:solidFill>
                  <a:srgbClr val="1A3068"/>
                </a:solidFill>
              </a:rPr>
              <a:t> </a:t>
            </a:r>
            <a:r>
              <a:rPr lang="es-CO" sz="1400" b="1" dirty="0" err="1">
                <a:solidFill>
                  <a:srgbClr val="1A3068"/>
                </a:solidFill>
              </a:rPr>
              <a:t>lock</a:t>
            </a:r>
            <a:r>
              <a:rPr lang="es-CO" sz="1400" b="1" dirty="0">
                <a:solidFill>
                  <a:srgbClr val="1A3068"/>
                </a:solidFill>
              </a:rPr>
              <a:t>) </a:t>
            </a:r>
            <a:r>
              <a:rPr lang="es-CO" sz="1400" dirty="0">
                <a:solidFill>
                  <a:srgbClr val="1A3068"/>
                </a:solidFill>
              </a:rPr>
              <a:t>es esencialmente un candado. Solo un hilo puede tenerlo a la vez. Las variables de condición son mecanismos para que los hilos se comuniquen entre sí de forma eficiente, son las siguientes:</a:t>
            </a:r>
          </a:p>
          <a:p>
            <a:pPr marL="0" indent="0">
              <a:buNone/>
            </a:pPr>
            <a:r>
              <a:rPr lang="es-CO" sz="1400" b="1" dirty="0" err="1">
                <a:solidFill>
                  <a:srgbClr val="1A3068"/>
                </a:solidFill>
              </a:rPr>
              <a:t>not_empty</a:t>
            </a:r>
            <a:r>
              <a:rPr lang="es-CO" sz="1400" b="1" dirty="0">
                <a:solidFill>
                  <a:srgbClr val="1A3068"/>
                </a:solidFill>
              </a:rPr>
              <a:t>: </a:t>
            </a:r>
            <a:r>
              <a:rPr lang="es-CO" sz="1400" dirty="0">
                <a:solidFill>
                  <a:srgbClr val="1A3068"/>
                </a:solidFill>
              </a:rPr>
              <a:t>el </a:t>
            </a:r>
            <a:r>
              <a:rPr lang="es-CO" sz="1400" dirty="0" err="1">
                <a:solidFill>
                  <a:srgbClr val="1A3068"/>
                </a:solidFill>
              </a:rPr>
              <a:t>acceptor</a:t>
            </a:r>
            <a:r>
              <a:rPr lang="es-CO" sz="1400" dirty="0">
                <a:solidFill>
                  <a:srgbClr val="1A3068"/>
                </a:solidFill>
              </a:rPr>
              <a:t> la activa cuando agrega un elemento, despertando a un </a:t>
            </a:r>
            <a:r>
              <a:rPr lang="es-CO" sz="1400" dirty="0" err="1">
                <a:solidFill>
                  <a:srgbClr val="1A3068"/>
                </a:solidFill>
              </a:rPr>
              <a:t>worker</a:t>
            </a:r>
            <a:r>
              <a:rPr lang="es-CO" sz="1400" dirty="0">
                <a:solidFill>
                  <a:srgbClr val="1A3068"/>
                </a:solidFill>
              </a:rPr>
              <a:t> dormido.</a:t>
            </a:r>
          </a:p>
          <a:p>
            <a:pPr marL="0" indent="0">
              <a:buNone/>
            </a:pPr>
            <a:r>
              <a:rPr lang="es-CO" sz="1400" b="1" dirty="0" err="1">
                <a:solidFill>
                  <a:srgbClr val="1A3068"/>
                </a:solidFill>
              </a:rPr>
              <a:t>not_full</a:t>
            </a:r>
            <a:r>
              <a:rPr lang="es-CO" sz="1400" b="1" dirty="0">
                <a:solidFill>
                  <a:srgbClr val="1A3068"/>
                </a:solidFill>
              </a:rPr>
              <a:t>:</a:t>
            </a:r>
            <a:r>
              <a:rPr lang="es-CO" sz="1400" dirty="0">
                <a:solidFill>
                  <a:srgbClr val="1A3068"/>
                </a:solidFill>
              </a:rPr>
              <a:t> un </a:t>
            </a:r>
            <a:r>
              <a:rPr lang="es-CO" sz="1400" dirty="0" err="1">
                <a:solidFill>
                  <a:srgbClr val="1A3068"/>
                </a:solidFill>
              </a:rPr>
              <a:t>worker</a:t>
            </a:r>
            <a:r>
              <a:rPr lang="es-CO" sz="1400" dirty="0">
                <a:solidFill>
                  <a:srgbClr val="1A3068"/>
                </a:solidFill>
              </a:rPr>
              <a:t> la activa cuando retira un elemento, despertando al </a:t>
            </a:r>
            <a:r>
              <a:rPr lang="es-CO" sz="1400" dirty="0" err="1">
                <a:solidFill>
                  <a:srgbClr val="1A3068"/>
                </a:solidFill>
              </a:rPr>
              <a:t>acceptor</a:t>
            </a:r>
            <a:r>
              <a:rPr lang="es-CO" sz="1400" dirty="0">
                <a:solidFill>
                  <a:srgbClr val="1A3068"/>
                </a:solidFill>
              </a:rPr>
              <a:t> si estaba esperando porque el buffer estaba lleno.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03 · FIFO VS SFF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148840" y="106327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Inside buffer_get()</a:t>
            </a:r>
            <a:endParaRPr lang="en-US" sz="2600" dirty="0">
              <a:solidFill>
                <a:srgbClr val="00206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590959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70C0"/>
                </a:solidFill>
              </a:rPr>
              <a:t>La única diferencia entre las dos políticas vive en estas pocas líneas de buffer.c</a:t>
            </a:r>
          </a:p>
        </p:txBody>
      </p:sp>
      <p:sp>
        <p:nvSpPr>
          <p:cNvPr id="6" name="Shape 4"/>
          <p:cNvSpPr/>
          <p:nvPr/>
        </p:nvSpPr>
        <p:spPr>
          <a:xfrm>
            <a:off x="365760" y="985851"/>
            <a:ext cx="4069080" cy="384048"/>
          </a:xfrm>
          <a:prstGeom prst="rect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7" name="Text 5"/>
          <p:cNvSpPr/>
          <p:nvPr/>
        </p:nvSpPr>
        <p:spPr>
          <a:xfrm>
            <a:off x="365760" y="985851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POLICY_FIFO — O(1)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1397331"/>
            <a:ext cx="4069080" cy="169164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9" name="Text 7"/>
          <p:cNvSpPr/>
          <p:nvPr/>
        </p:nvSpPr>
        <p:spPr>
          <a:xfrm>
            <a:off x="502920" y="1443051"/>
            <a:ext cx="3794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(sched == POLICY_FIFO) {
  req  = slots[head];
  head = (head+1) % cap;
</a:t>
            </a:r>
            <a:r>
              <a:rPr lang="en-US" sz="1050" dirty="0">
                <a:solidFill>
                  <a:srgbClr val="6A9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Retira el más antiguo.
  // Sin búsqueda. O(1).
</a:t>
            </a: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985851"/>
            <a:ext cx="4069080" cy="38404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11" name="Text 9"/>
          <p:cNvSpPr/>
          <p:nvPr/>
        </p:nvSpPr>
        <p:spPr>
          <a:xfrm>
            <a:off x="4709160" y="985851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POLICY_SFF — O(n)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09160" y="1397331"/>
            <a:ext cx="4069080" cy="169164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13" name="Text 11"/>
          <p:cNvSpPr/>
          <p:nvPr/>
        </p:nvSpPr>
        <p:spPr>
          <a:xfrm>
            <a:off x="4846320" y="1443051"/>
            <a:ext cx="3794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
  int min_i = head, min_size = slots[head].filesize;
</a:t>
            </a: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</a:t>
            </a: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(i=1; i&lt;count; i++) {
    idx=(head+i)%cap;
    if(slots[idx].filesize &lt; min_size)
      min_i=idx; min_size=...;
  }
</a:t>
            </a:r>
            <a:r>
              <a:rPr lang="en-US" sz="1050" dirty="0">
                <a:solidFill>
                  <a:srgbClr val="EF5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req=slots[</a:t>
            </a:r>
            <a:r>
              <a:rPr lang="en-US" sz="1050" dirty="0" err="1">
                <a:solidFill>
                  <a:srgbClr val="EF5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min_i</a:t>
            </a:r>
            <a:r>
              <a:rPr lang="en-US" sz="1050" dirty="0">
                <a:solidFill>
                  <a:srgbClr val="EF5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 </a:t>
            </a:r>
            <a:r>
              <a:rPr lang="en-US" sz="1050" dirty="0">
                <a:solidFill>
                  <a:srgbClr val="6A9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compactar arreglo circular
</a:t>
            </a: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050" dirty="0">
                <a:solidFill>
                  <a:srgbClr val="6A9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359286"/>
            <a:ext cx="1221593" cy="347472"/>
          </a:xfrm>
          <a:prstGeom prst="rect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 sz="3200"/>
          </a:p>
        </p:txBody>
      </p:sp>
      <p:sp>
        <p:nvSpPr>
          <p:cNvPr id="15" name="Text 13"/>
          <p:cNvSpPr/>
          <p:nvPr/>
        </p:nvSpPr>
        <p:spPr>
          <a:xfrm>
            <a:off x="365760" y="3359286"/>
            <a:ext cx="12215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D8F8"/>
                </a:solidFill>
              </a:rPr>
              <a:t>Selección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91640" y="3359286"/>
            <a:ext cx="3200400" cy="347472"/>
          </a:xfrm>
          <a:prstGeom prst="rect">
            <a:avLst/>
          </a:prstGeom>
          <a:solidFill>
            <a:srgbClr val="1A3068"/>
          </a:solidFill>
          <a:ln w="12700">
            <a:solidFill>
              <a:srgbClr val="2A4090"/>
            </a:solidFill>
            <a:prstDash val="solid"/>
          </a:ln>
        </p:spPr>
        <p:txBody>
          <a:bodyPr/>
          <a:lstStyle/>
          <a:p>
            <a:endParaRPr lang="es-CO" sz="3200"/>
          </a:p>
        </p:txBody>
      </p:sp>
      <p:sp>
        <p:nvSpPr>
          <p:cNvPr id="17" name="Text 15"/>
          <p:cNvSpPr/>
          <p:nvPr/>
        </p:nvSpPr>
        <p:spPr>
          <a:xfrm>
            <a:off x="1737360" y="335928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F8"/>
                </a:solidFill>
              </a:rPr>
              <a:t>head — el más antiguo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54894" y="3359286"/>
            <a:ext cx="3429000" cy="347472"/>
          </a:xfrm>
          <a:prstGeom prst="rect">
            <a:avLst/>
          </a:prstGeom>
          <a:solidFill>
            <a:srgbClr val="1A3A28"/>
          </a:solidFill>
          <a:ln w="12700">
            <a:solidFill>
              <a:srgbClr val="2A5A38"/>
            </a:solidFill>
            <a:prstDash val="solid"/>
          </a:ln>
        </p:spPr>
        <p:txBody>
          <a:bodyPr/>
          <a:lstStyle/>
          <a:p>
            <a:endParaRPr lang="es-CO" sz="3200"/>
          </a:p>
        </p:txBody>
      </p:sp>
      <p:sp>
        <p:nvSpPr>
          <p:cNvPr id="19" name="Text 17"/>
          <p:cNvSpPr/>
          <p:nvPr/>
        </p:nvSpPr>
        <p:spPr>
          <a:xfrm>
            <a:off x="5100614" y="335928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F5C0"/>
                </a:solidFill>
              </a:rPr>
              <a:t>min(filesize) entre pendientes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752478"/>
            <a:ext cx="1221593" cy="347472"/>
          </a:xfrm>
          <a:prstGeom prst="rect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 sz="3200"/>
          </a:p>
        </p:txBody>
      </p:sp>
      <p:sp>
        <p:nvSpPr>
          <p:cNvPr id="21" name="Text 19"/>
          <p:cNvSpPr/>
          <p:nvPr/>
        </p:nvSpPr>
        <p:spPr>
          <a:xfrm>
            <a:off x="365760" y="3752478"/>
            <a:ext cx="12215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D8F8"/>
                </a:solidFill>
              </a:rPr>
              <a:t>Complejidad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691640" y="3752478"/>
            <a:ext cx="3200400" cy="347472"/>
          </a:xfrm>
          <a:prstGeom prst="rect">
            <a:avLst/>
          </a:prstGeom>
          <a:solidFill>
            <a:srgbClr val="1A3068"/>
          </a:solidFill>
          <a:ln w="12700">
            <a:solidFill>
              <a:srgbClr val="2A4090"/>
            </a:solidFill>
            <a:prstDash val="solid"/>
          </a:ln>
        </p:spPr>
        <p:txBody>
          <a:bodyPr/>
          <a:lstStyle/>
          <a:p>
            <a:endParaRPr lang="es-CO" sz="3200"/>
          </a:p>
        </p:txBody>
      </p:sp>
      <p:sp>
        <p:nvSpPr>
          <p:cNvPr id="23" name="Text 21"/>
          <p:cNvSpPr/>
          <p:nvPr/>
        </p:nvSpPr>
        <p:spPr>
          <a:xfrm>
            <a:off x="1737360" y="375247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F8"/>
                </a:solidFill>
              </a:rPr>
              <a:t>O(1) — sin recorrido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54894" y="3752478"/>
            <a:ext cx="3429000" cy="347472"/>
          </a:xfrm>
          <a:prstGeom prst="rect">
            <a:avLst/>
          </a:prstGeom>
          <a:solidFill>
            <a:srgbClr val="1A3A28"/>
          </a:solidFill>
          <a:ln w="12700">
            <a:solidFill>
              <a:srgbClr val="2A5A38"/>
            </a:solidFill>
            <a:prstDash val="solid"/>
          </a:ln>
        </p:spPr>
        <p:txBody>
          <a:bodyPr/>
          <a:lstStyle/>
          <a:p>
            <a:endParaRPr lang="es-CO" sz="3200"/>
          </a:p>
        </p:txBody>
      </p:sp>
      <p:sp>
        <p:nvSpPr>
          <p:cNvPr id="25" name="Text 23"/>
          <p:cNvSpPr/>
          <p:nvPr/>
        </p:nvSpPr>
        <p:spPr>
          <a:xfrm>
            <a:off x="5100614" y="375247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F5C0"/>
                </a:solidFill>
              </a:rPr>
              <a:t>O(n) — escanea toda la cola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145670"/>
            <a:ext cx="1221593" cy="347472"/>
          </a:xfrm>
          <a:prstGeom prst="rect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 sz="3200"/>
          </a:p>
        </p:txBody>
      </p:sp>
      <p:sp>
        <p:nvSpPr>
          <p:cNvPr id="27" name="Text 25"/>
          <p:cNvSpPr/>
          <p:nvPr/>
        </p:nvSpPr>
        <p:spPr>
          <a:xfrm>
            <a:off x="365760" y="4145670"/>
            <a:ext cx="12215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D8F8"/>
                </a:solidFill>
              </a:rPr>
              <a:t>Equidad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691640" y="4145670"/>
            <a:ext cx="3200400" cy="347472"/>
          </a:xfrm>
          <a:prstGeom prst="rect">
            <a:avLst/>
          </a:prstGeom>
          <a:solidFill>
            <a:srgbClr val="1A3068"/>
          </a:solidFill>
          <a:ln w="12700">
            <a:solidFill>
              <a:srgbClr val="2A4090"/>
            </a:solidFill>
            <a:prstDash val="solid"/>
          </a:ln>
        </p:spPr>
        <p:txBody>
          <a:bodyPr/>
          <a:lstStyle/>
          <a:p>
            <a:endParaRPr lang="es-CO" sz="3200"/>
          </a:p>
        </p:txBody>
      </p:sp>
      <p:sp>
        <p:nvSpPr>
          <p:cNvPr id="29" name="Text 27"/>
          <p:cNvSpPr/>
          <p:nvPr/>
        </p:nvSpPr>
        <p:spPr>
          <a:xfrm>
            <a:off x="1737360" y="414567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F8"/>
                </a:solidFill>
              </a:rPr>
              <a:t>Garantiza orden de llegada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54894" y="4145670"/>
            <a:ext cx="3429000" cy="347472"/>
          </a:xfrm>
          <a:prstGeom prst="rect">
            <a:avLst/>
          </a:prstGeom>
          <a:solidFill>
            <a:srgbClr val="1A3A28"/>
          </a:solidFill>
          <a:ln w="12700">
            <a:solidFill>
              <a:srgbClr val="2A5A38"/>
            </a:solidFill>
            <a:prstDash val="solid"/>
          </a:ln>
        </p:spPr>
        <p:txBody>
          <a:bodyPr/>
          <a:lstStyle/>
          <a:p>
            <a:endParaRPr lang="es-CO" sz="3200"/>
          </a:p>
        </p:txBody>
      </p:sp>
      <p:sp>
        <p:nvSpPr>
          <p:cNvPr id="31" name="Text 29"/>
          <p:cNvSpPr/>
          <p:nvPr/>
        </p:nvSpPr>
        <p:spPr>
          <a:xfrm>
            <a:off x="5100614" y="414567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F5C0"/>
                </a:solidFill>
              </a:rPr>
              <a:t>Archivos grandes pueden esperar (starvation)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4538862"/>
            <a:ext cx="1221593" cy="347472"/>
          </a:xfrm>
          <a:prstGeom prst="rect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 sz="3200"/>
          </a:p>
        </p:txBody>
      </p:sp>
      <p:sp>
        <p:nvSpPr>
          <p:cNvPr id="33" name="Text 31"/>
          <p:cNvSpPr/>
          <p:nvPr/>
        </p:nvSpPr>
        <p:spPr>
          <a:xfrm>
            <a:off x="365760" y="4538862"/>
            <a:ext cx="12215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D8F8"/>
                </a:solidFill>
              </a:rPr>
              <a:t>Latencia media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691640" y="4538862"/>
            <a:ext cx="3200400" cy="347472"/>
          </a:xfrm>
          <a:prstGeom prst="rect">
            <a:avLst/>
          </a:prstGeom>
          <a:solidFill>
            <a:srgbClr val="1A3068"/>
          </a:solidFill>
          <a:ln w="12700">
            <a:solidFill>
              <a:srgbClr val="2A4090"/>
            </a:solidFill>
            <a:prstDash val="solid"/>
          </a:ln>
        </p:spPr>
        <p:txBody>
          <a:bodyPr/>
          <a:lstStyle/>
          <a:p>
            <a:endParaRPr lang="es-CO" sz="3200"/>
          </a:p>
        </p:txBody>
      </p:sp>
      <p:sp>
        <p:nvSpPr>
          <p:cNvPr id="35" name="Text 33"/>
          <p:cNvSpPr/>
          <p:nvPr/>
        </p:nvSpPr>
        <p:spPr>
          <a:xfrm>
            <a:off x="1737360" y="453886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F8"/>
                </a:solidFill>
              </a:rPr>
              <a:t>Proporcional al mix de tamaños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54894" y="4538862"/>
            <a:ext cx="3429000" cy="347472"/>
          </a:xfrm>
          <a:prstGeom prst="rect">
            <a:avLst/>
          </a:prstGeom>
          <a:solidFill>
            <a:srgbClr val="1A3A28"/>
          </a:solidFill>
          <a:ln w="12700">
            <a:solidFill>
              <a:srgbClr val="2A5A38"/>
            </a:solidFill>
            <a:prstDash val="solid"/>
          </a:ln>
        </p:spPr>
        <p:txBody>
          <a:bodyPr/>
          <a:lstStyle/>
          <a:p>
            <a:endParaRPr lang="es-CO" sz="3200"/>
          </a:p>
        </p:txBody>
      </p:sp>
      <p:sp>
        <p:nvSpPr>
          <p:cNvPr id="37" name="Text 35"/>
          <p:cNvSpPr/>
          <p:nvPr/>
        </p:nvSpPr>
        <p:spPr>
          <a:xfrm>
            <a:off x="5100614" y="453886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F5C0"/>
                </a:solidFill>
              </a:rPr>
              <a:t>Menor para archivos pequeños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56032"/>
          </a:xfrm>
          <a:prstGeom prst="rect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05 · WSERVER.C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103120" y="960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wserver.c — Arquitectura Concurrente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17409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7298"/>
                </a:solidFill>
              </a:rPr>
              <a:t>El main() ahora tiene tres responsabilidades: configurar, crear workers y correr el acceptor.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993904"/>
            <a:ext cx="4846320" cy="3920996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 sz="3600"/>
          </a:p>
        </p:txBody>
      </p:sp>
      <p:sp>
        <p:nvSpPr>
          <p:cNvPr id="7" name="Text 5"/>
          <p:cNvSpPr/>
          <p:nvPr/>
        </p:nvSpPr>
        <p:spPr>
          <a:xfrm>
            <a:off x="502920" y="1079109"/>
            <a:ext cx="4572000" cy="3728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A9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Nuevos parámetros
</a:t>
            </a:r>
            <a:r>
              <a:rPr lang="en-US" sz="14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getopt</a:t>
            </a:r>
            <a:r>
              <a:rPr lang="en-US" sz="14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(argc, argv, "d:p:</a:t>
            </a:r>
            <a:r>
              <a:rPr lang="en-US" sz="1400" dirty="0">
                <a:solidFill>
                  <a:srgbClr val="EF5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t:b:s:</a:t>
            </a:r>
            <a:r>
              <a:rPr lang="en-US" sz="14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");
</a:t>
            </a:r>
            <a:r>
              <a:rPr lang="en-US" sz="1400" dirty="0">
                <a:solidFill>
                  <a:srgbClr val="6A9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-t threads  -b bufsize  -s fifo|sff
</a:t>
            </a:r>
            <a:r>
              <a:rPr lang="en-US" sz="14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buffer_init</a:t>
            </a:r>
            <a:r>
              <a:rPr lang="en-US" sz="14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(buf_size, policy);
</a:t>
            </a:r>
            <a:r>
              <a:rPr lang="en-US" sz="1400" dirty="0">
                <a:solidFill>
                  <a:srgbClr val="6A9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Crear pool de N workers
</a:t>
            </a:r>
            <a:r>
              <a:rPr lang="en-US" sz="14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r>
              <a:rPr lang="en-US" sz="14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(i=0; i&lt;num_threads; i++)
</a:t>
            </a:r>
            <a:r>
              <a:rPr lang="en-US" sz="14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pthread_create</a:t>
            </a:r>
            <a:r>
              <a:rPr lang="en-US" sz="14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(&amp;workers[i], NULL,
    worker_fn, (void*)i);
</a:t>
            </a:r>
            <a:r>
              <a:rPr lang="en-US" sz="1400" dirty="0">
                <a:solidFill>
                  <a:srgbClr val="6A9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Acceptor loop
</a:t>
            </a:r>
            <a:r>
              <a:rPr lang="en-US" sz="14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</a:t>
            </a:r>
            <a:r>
              <a:rPr lang="en-US" sz="14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(1) {
</a:t>
            </a:r>
            <a:r>
              <a:rPr lang="en-US" sz="14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conn_fd = accept_or_die</a:t>
            </a:r>
            <a:r>
              <a:rPr lang="en-US" sz="14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(...);
</a:t>
            </a:r>
            <a:r>
              <a:rPr lang="en-US" sz="14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</a:t>
            </a:r>
            <a:r>
              <a:rPr lang="en-US" sz="14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request_parse</a:t>
            </a:r>
            <a:r>
              <a:rPr lang="en-US" sz="14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(conn_fd, &amp;req) == 0)
</a:t>
            </a:r>
            <a:r>
              <a:rPr lang="en-US" sz="14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buffer_put</a:t>
            </a:r>
            <a:r>
              <a:rPr lang="en-US" sz="14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(&amp;req);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49240" y="993903"/>
            <a:ext cx="3429000" cy="1799705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 sz="3600"/>
          </a:p>
        </p:txBody>
      </p:sp>
      <p:sp>
        <p:nvSpPr>
          <p:cNvPr id="9" name="Text 7"/>
          <p:cNvSpPr/>
          <p:nvPr/>
        </p:nvSpPr>
        <p:spPr>
          <a:xfrm>
            <a:off x="5486400" y="1211697"/>
            <a:ext cx="31546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void* </a:t>
            </a:r>
            <a:r>
              <a:rPr lang="en-US" sz="14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worker_fn</a:t>
            </a:r>
            <a:r>
              <a:rPr lang="en-US" sz="14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(void *arg) {
</a:t>
            </a:r>
            <a:r>
              <a:rPr lang="en-US" sz="14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</a:t>
            </a:r>
            <a:r>
              <a:rPr lang="en-US" sz="14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(1) {
    request_t req = </a:t>
            </a:r>
            <a:r>
              <a:rPr lang="en-US" sz="14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buffer_get</a:t>
            </a:r>
            <a:r>
              <a:rPr lang="en-US" sz="14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
</a:t>
            </a:r>
            <a:r>
              <a:rPr lang="en-US" sz="1400" dirty="0">
                <a:solidFill>
                  <a:srgbClr val="EF5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request_serve</a:t>
            </a:r>
            <a:r>
              <a:rPr lang="en-US" sz="14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(&amp;req);
 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49240" y="2910818"/>
            <a:ext cx="3429000" cy="990981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sz="3200"/>
          </a:p>
        </p:txBody>
      </p:sp>
      <p:sp>
        <p:nvSpPr>
          <p:cNvPr id="11" name="Shape 9"/>
          <p:cNvSpPr/>
          <p:nvPr/>
        </p:nvSpPr>
        <p:spPr>
          <a:xfrm>
            <a:off x="5349240" y="2910818"/>
            <a:ext cx="64008" cy="990981"/>
          </a:xfrm>
          <a:prstGeom prst="rect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 sz="3200"/>
          </a:p>
        </p:txBody>
      </p:sp>
      <p:sp>
        <p:nvSpPr>
          <p:cNvPr id="12" name="Text 10"/>
          <p:cNvSpPr/>
          <p:nvPr/>
        </p:nvSpPr>
        <p:spPr>
          <a:xfrm>
            <a:off x="5532120" y="2974827"/>
            <a:ext cx="3108960" cy="3378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4A"/>
                </a:solidFill>
              </a:rPr>
              <a:t>Nuevos flags (-t -b -s)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32120" y="3294866"/>
            <a:ext cx="3108960" cy="4729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F72"/>
                </a:solidFill>
              </a:rPr>
              <a:t>El servidor ahora arranca con política, capacidad del buffer y número de threads configurables desde la línea de comandos.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49240" y="3950325"/>
            <a:ext cx="3429000" cy="9909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sz="3200"/>
          </a:p>
        </p:txBody>
      </p:sp>
      <p:sp>
        <p:nvSpPr>
          <p:cNvPr id="15" name="Shape 13"/>
          <p:cNvSpPr/>
          <p:nvPr/>
        </p:nvSpPr>
        <p:spPr>
          <a:xfrm>
            <a:off x="5349240" y="3950325"/>
            <a:ext cx="64008" cy="99098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s-CO" sz="3200"/>
          </a:p>
        </p:txBody>
      </p:sp>
      <p:sp>
        <p:nvSpPr>
          <p:cNvPr id="16" name="Text 14"/>
          <p:cNvSpPr/>
          <p:nvPr/>
        </p:nvSpPr>
        <p:spPr>
          <a:xfrm>
            <a:off x="5532120" y="4014332"/>
            <a:ext cx="3108960" cy="3378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4A"/>
                </a:solidFill>
              </a:rPr>
              <a:t>Separación de roles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32120" y="4334372"/>
            <a:ext cx="3108960" cy="4729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F72"/>
                </a:solidFill>
              </a:rPr>
              <a:t>El acceptor solo parsea y encola. Los workers bloquean en buffer_get() hasta que haya trabajo, sin competir con el acceptor.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05 · FLUJO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144306" y="1187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Completo: del Accept al Response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94894" y="1102977"/>
            <a:ext cx="2926080" cy="347472"/>
          </a:xfrm>
          <a:prstGeom prst="rect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 sz="2800"/>
          </a:p>
        </p:txBody>
      </p:sp>
      <p:sp>
        <p:nvSpPr>
          <p:cNvPr id="6" name="Text 4"/>
          <p:cNvSpPr/>
          <p:nvPr/>
        </p:nvSpPr>
        <p:spPr>
          <a:xfrm>
            <a:off x="274320" y="111212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HILO MAIN — Acceptor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4894" y="1652779"/>
            <a:ext cx="2926080" cy="594360"/>
          </a:xfrm>
          <a:prstGeom prst="rect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 sz="2800"/>
          </a:p>
        </p:txBody>
      </p:sp>
      <p:sp>
        <p:nvSpPr>
          <p:cNvPr id="8" name="Text 6"/>
          <p:cNvSpPr/>
          <p:nvPr/>
        </p:nvSpPr>
        <p:spPr>
          <a:xfrm>
            <a:off x="274320" y="167106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accept(listen_fd)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737360" y="2258568"/>
            <a:ext cx="0" cy="228600"/>
          </a:xfrm>
          <a:prstGeom prst="line">
            <a:avLst/>
          </a:prstGeom>
          <a:noFill/>
          <a:ln w="25400">
            <a:solidFill>
              <a:srgbClr val="90A4C8"/>
            </a:solidFill>
            <a:prstDash val="solid"/>
          </a:ln>
        </p:spPr>
        <p:txBody>
          <a:bodyPr/>
          <a:lstStyle/>
          <a:p>
            <a:endParaRPr lang="es-CO" sz="2800"/>
          </a:p>
        </p:txBody>
      </p:sp>
      <p:sp>
        <p:nvSpPr>
          <p:cNvPr id="10" name="Shape 8"/>
          <p:cNvSpPr/>
          <p:nvPr/>
        </p:nvSpPr>
        <p:spPr>
          <a:xfrm>
            <a:off x="294894" y="2487168"/>
            <a:ext cx="292608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 sz="2800"/>
          </a:p>
        </p:txBody>
      </p:sp>
      <p:sp>
        <p:nvSpPr>
          <p:cNvPr id="11" name="Text 9"/>
          <p:cNvSpPr/>
          <p:nvPr/>
        </p:nvSpPr>
        <p:spPr>
          <a:xfrm>
            <a:off x="274320" y="248716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request_parse()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737360" y="3081528"/>
            <a:ext cx="0" cy="228600"/>
          </a:xfrm>
          <a:prstGeom prst="line">
            <a:avLst/>
          </a:prstGeom>
          <a:noFill/>
          <a:ln w="25400">
            <a:solidFill>
              <a:srgbClr val="90A4C8"/>
            </a:solidFill>
            <a:prstDash val="solid"/>
          </a:ln>
        </p:spPr>
        <p:txBody>
          <a:bodyPr/>
          <a:lstStyle/>
          <a:p>
            <a:endParaRPr lang="es-CO" sz="2800"/>
          </a:p>
        </p:txBody>
      </p:sp>
      <p:sp>
        <p:nvSpPr>
          <p:cNvPr id="13" name="Shape 11"/>
          <p:cNvSpPr/>
          <p:nvPr/>
        </p:nvSpPr>
        <p:spPr>
          <a:xfrm>
            <a:off x="294894" y="3303268"/>
            <a:ext cx="2926080" cy="5943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s-CO" sz="2800"/>
          </a:p>
        </p:txBody>
      </p:sp>
      <p:sp>
        <p:nvSpPr>
          <p:cNvPr id="14" name="Text 12"/>
          <p:cNvSpPr/>
          <p:nvPr/>
        </p:nvSpPr>
        <p:spPr>
          <a:xfrm>
            <a:off x="274320" y="331012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buffer_put(&amp;req)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37356" y="3575304"/>
            <a:ext cx="533599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CO" sz="2800"/>
          </a:p>
        </p:txBody>
      </p:sp>
      <p:sp>
        <p:nvSpPr>
          <p:cNvPr id="16" name="Text 14"/>
          <p:cNvSpPr/>
          <p:nvPr/>
        </p:nvSpPr>
        <p:spPr>
          <a:xfrm>
            <a:off x="3218688" y="331012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FC3F7"/>
                </a:solidFill>
              </a:rPr>
              <a:t>encola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772169" y="793490"/>
            <a:ext cx="1554480" cy="3764118"/>
          </a:xfrm>
          <a:prstGeom prst="rect">
            <a:avLst/>
          </a:prstGeom>
          <a:solidFill>
            <a:srgbClr val="0B1530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CO" sz="2800" dirty="0"/>
          </a:p>
        </p:txBody>
      </p:sp>
      <p:sp>
        <p:nvSpPr>
          <p:cNvPr id="18" name="Text 16"/>
          <p:cNvSpPr/>
          <p:nvPr/>
        </p:nvSpPr>
        <p:spPr>
          <a:xfrm>
            <a:off x="3755786" y="2285067"/>
            <a:ext cx="1554480" cy="14132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</a:rPr>
              <a:t>BUFFER</a:t>
            </a:r>
            <a:endParaRPr lang="en-US" sz="1400" b="1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</a:rPr>
              <a:t>Compartido</a:t>
            </a:r>
            <a:endParaRPr lang="en-US" sz="1400" b="1" dirty="0"/>
          </a:p>
          <a:p>
            <a:pPr marL="0" indent="0" algn="ctr">
              <a:buNone/>
            </a:pPr>
            <a:endParaRPr lang="en-US" sz="1400" b="1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</a:rPr>
              <a:t>cap = M</a:t>
            </a:r>
            <a:endParaRPr lang="en-US" sz="1400" b="1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</a:rPr>
              <a:t>policy =</a:t>
            </a:r>
            <a:r>
              <a:rPr lang="en-US" sz="1400" b="1" dirty="0"/>
              <a:t> </a:t>
            </a:r>
            <a:r>
              <a:rPr lang="en-US" sz="1400" b="1" dirty="0">
                <a:solidFill>
                  <a:srgbClr val="4FC3F7"/>
                </a:solidFill>
              </a:rPr>
              <a:t>FIFO|SFF</a:t>
            </a:r>
            <a:endParaRPr lang="en-US" sz="1400" b="1" dirty="0"/>
          </a:p>
        </p:txBody>
      </p:sp>
      <p:sp>
        <p:nvSpPr>
          <p:cNvPr id="19" name="Shape 17"/>
          <p:cNvSpPr/>
          <p:nvPr/>
        </p:nvSpPr>
        <p:spPr>
          <a:xfrm>
            <a:off x="3870975" y="894978"/>
            <a:ext cx="1335024" cy="411480"/>
          </a:xfrm>
          <a:prstGeom prst="rect">
            <a:avLst/>
          </a:prstGeom>
          <a:solidFill>
            <a:srgbClr val="1A3A6A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 sz="2800"/>
          </a:p>
        </p:txBody>
      </p:sp>
      <p:sp>
        <p:nvSpPr>
          <p:cNvPr id="20" name="Text 18"/>
          <p:cNvSpPr/>
          <p:nvPr/>
        </p:nvSpPr>
        <p:spPr>
          <a:xfrm>
            <a:off x="3870975" y="894978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D8F8"/>
                </a:solidFill>
              </a:rPr>
              <a:t>req_1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870975" y="1397898"/>
            <a:ext cx="1335024" cy="411480"/>
          </a:xfrm>
          <a:prstGeom prst="rect">
            <a:avLst/>
          </a:prstGeom>
          <a:solidFill>
            <a:srgbClr val="1A3A6A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 sz="2800"/>
          </a:p>
        </p:txBody>
      </p:sp>
      <p:sp>
        <p:nvSpPr>
          <p:cNvPr id="22" name="Text 20"/>
          <p:cNvSpPr/>
          <p:nvPr/>
        </p:nvSpPr>
        <p:spPr>
          <a:xfrm>
            <a:off x="3870975" y="1397898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D8F8"/>
                </a:solidFill>
              </a:rPr>
              <a:t>req_2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870975" y="1900818"/>
            <a:ext cx="1335024" cy="411480"/>
          </a:xfrm>
          <a:prstGeom prst="rect">
            <a:avLst/>
          </a:prstGeom>
          <a:solidFill>
            <a:srgbClr val="1A3A6A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 sz="2800"/>
          </a:p>
        </p:txBody>
      </p:sp>
      <p:sp>
        <p:nvSpPr>
          <p:cNvPr id="24" name="Text 22"/>
          <p:cNvSpPr/>
          <p:nvPr/>
        </p:nvSpPr>
        <p:spPr>
          <a:xfrm>
            <a:off x="3870975" y="1900818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D8F8"/>
                </a:solidFill>
              </a:rPr>
              <a:t>req_3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870975" y="3690036"/>
            <a:ext cx="1335024" cy="331375"/>
          </a:xfrm>
          <a:prstGeom prst="rect">
            <a:avLst/>
          </a:prstGeom>
          <a:solidFill>
            <a:srgbClr val="0B1530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 sz="2800"/>
          </a:p>
        </p:txBody>
      </p:sp>
      <p:sp>
        <p:nvSpPr>
          <p:cNvPr id="26" name="Shape 24"/>
          <p:cNvSpPr/>
          <p:nvPr/>
        </p:nvSpPr>
        <p:spPr>
          <a:xfrm>
            <a:off x="3870975" y="4110903"/>
            <a:ext cx="1335024" cy="323937"/>
          </a:xfrm>
          <a:prstGeom prst="rect">
            <a:avLst/>
          </a:prstGeom>
          <a:solidFill>
            <a:srgbClr val="0B1530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 sz="2800"/>
          </a:p>
        </p:txBody>
      </p:sp>
      <p:sp>
        <p:nvSpPr>
          <p:cNvPr id="27" name="Shape 25"/>
          <p:cNvSpPr/>
          <p:nvPr/>
        </p:nvSpPr>
        <p:spPr>
          <a:xfrm>
            <a:off x="5326648" y="2442503"/>
            <a:ext cx="662671" cy="0"/>
          </a:xfrm>
          <a:prstGeom prst="line">
            <a:avLst/>
          </a:prstGeom>
          <a:noFill/>
          <a:ln w="254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s-CO" sz="2800"/>
          </a:p>
        </p:txBody>
      </p:sp>
      <p:sp>
        <p:nvSpPr>
          <p:cNvPr id="28" name="Text 26"/>
          <p:cNvSpPr/>
          <p:nvPr/>
        </p:nvSpPr>
        <p:spPr>
          <a:xfrm>
            <a:off x="5326380" y="2106557"/>
            <a:ext cx="6629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3A047"/>
                </a:solidFill>
              </a:rPr>
              <a:t>dequeue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89320" y="1164725"/>
            <a:ext cx="2834640" cy="38404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s-CO" sz="2800"/>
          </a:p>
        </p:txBody>
      </p:sp>
      <p:sp>
        <p:nvSpPr>
          <p:cNvPr id="30" name="Text 28"/>
          <p:cNvSpPr/>
          <p:nvPr/>
        </p:nvSpPr>
        <p:spPr>
          <a:xfrm>
            <a:off x="5989320" y="1164725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Worker 1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89320" y="1576205"/>
            <a:ext cx="2834640" cy="566928"/>
          </a:xfrm>
          <a:prstGeom prst="rect">
            <a:avLst/>
          </a:prstGeom>
          <a:solidFill>
            <a:srgbClr val="0F1F2F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s-CO" sz="2800"/>
          </a:p>
        </p:txBody>
      </p:sp>
      <p:sp>
        <p:nvSpPr>
          <p:cNvPr id="32" name="Text 30"/>
          <p:cNvSpPr/>
          <p:nvPr/>
        </p:nvSpPr>
        <p:spPr>
          <a:xfrm>
            <a:off x="6035040" y="1612781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buffer_get() → request_serve() → close(fd)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989320" y="2280293"/>
            <a:ext cx="283464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O" sz="2800"/>
          </a:p>
        </p:txBody>
      </p:sp>
      <p:sp>
        <p:nvSpPr>
          <p:cNvPr id="34" name="Text 32"/>
          <p:cNvSpPr/>
          <p:nvPr/>
        </p:nvSpPr>
        <p:spPr>
          <a:xfrm>
            <a:off x="5989320" y="2280293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Worker 2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989320" y="2691773"/>
            <a:ext cx="2834640" cy="566928"/>
          </a:xfrm>
          <a:prstGeom prst="rect">
            <a:avLst/>
          </a:prstGeom>
          <a:solidFill>
            <a:srgbClr val="0F1F2F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O" sz="2800"/>
          </a:p>
        </p:txBody>
      </p:sp>
      <p:sp>
        <p:nvSpPr>
          <p:cNvPr id="36" name="Text 34"/>
          <p:cNvSpPr/>
          <p:nvPr/>
        </p:nvSpPr>
        <p:spPr>
          <a:xfrm>
            <a:off x="6035040" y="2728349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buffer_get() → request_serve() → close(fd)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989320" y="3395861"/>
            <a:ext cx="2834640" cy="38404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O" sz="2800"/>
          </a:p>
        </p:txBody>
      </p:sp>
      <p:sp>
        <p:nvSpPr>
          <p:cNvPr id="38" name="Text 36"/>
          <p:cNvSpPr/>
          <p:nvPr/>
        </p:nvSpPr>
        <p:spPr>
          <a:xfrm>
            <a:off x="5989320" y="3395861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Worker 3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989320" y="3807341"/>
            <a:ext cx="2834640" cy="566928"/>
          </a:xfrm>
          <a:prstGeom prst="rect">
            <a:avLst/>
          </a:prstGeom>
          <a:solidFill>
            <a:srgbClr val="0F1F2F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O" sz="2800"/>
          </a:p>
        </p:txBody>
      </p:sp>
      <p:sp>
        <p:nvSpPr>
          <p:cNvPr id="40" name="Text 38"/>
          <p:cNvSpPr/>
          <p:nvPr/>
        </p:nvSpPr>
        <p:spPr>
          <a:xfrm>
            <a:off x="6035040" y="3843917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buffer_get() → request_serve() → close(fd)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0A4C8"/>
                </a:solidFill>
              </a:rPr>
              <a:t>Los workers son independientes entre sí  ·  El mutex garantiza que buffer_get() es seguro bajo contención real</a:t>
            </a:r>
            <a:endParaRPr lang="en-US" sz="1100" dirty="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661A033A-100D-078F-1F8C-5FE724EC4347}"/>
              </a:ext>
            </a:extLst>
          </p:cNvPr>
          <p:cNvSpPr/>
          <p:nvPr/>
        </p:nvSpPr>
        <p:spPr>
          <a:xfrm>
            <a:off x="5326649" y="1306458"/>
            <a:ext cx="662671" cy="0"/>
          </a:xfrm>
          <a:prstGeom prst="line">
            <a:avLst/>
          </a:prstGeom>
          <a:noFill/>
          <a:ln w="254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s-CO" sz="2800"/>
          </a:p>
        </p:txBody>
      </p:sp>
      <p:sp>
        <p:nvSpPr>
          <p:cNvPr id="43" name="Shape 25">
            <a:extLst>
              <a:ext uri="{FF2B5EF4-FFF2-40B4-BE49-F238E27FC236}">
                <a16:creationId xmlns:a16="http://schemas.microsoft.com/office/drawing/2014/main" id="{8D70CDD6-A931-9130-0490-2DD50D6C8FA5}"/>
              </a:ext>
            </a:extLst>
          </p:cNvPr>
          <p:cNvSpPr/>
          <p:nvPr/>
        </p:nvSpPr>
        <p:spPr>
          <a:xfrm>
            <a:off x="5326649" y="3538728"/>
            <a:ext cx="662671" cy="0"/>
          </a:xfrm>
          <a:prstGeom prst="line">
            <a:avLst/>
          </a:prstGeom>
          <a:noFill/>
          <a:ln w="254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s-CO"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56032"/>
          </a:xfrm>
          <a:prstGeom prst="rect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06 · EXPERIMENTOS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131507" y="101281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Experimental — Comparación FIFO vs SFF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199" y="740451"/>
            <a:ext cx="8466135" cy="374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7298"/>
                </a:solidFill>
              </a:rPr>
              <a:t>Tres escenarios controlados · Carga concurrente real · 50 réplicas · Mann-Whitney U como prueba </a:t>
            </a:r>
            <a:r>
              <a:rPr lang="en-US" sz="1600" dirty="0" err="1">
                <a:solidFill>
                  <a:srgbClr val="5A7298"/>
                </a:solidFill>
              </a:rPr>
              <a:t>estadística</a:t>
            </a:r>
            <a:r>
              <a:rPr lang="en-US" sz="1600" dirty="0">
                <a:solidFill>
                  <a:srgbClr val="5A7298"/>
                </a:solidFill>
              </a:rPr>
              <a:t> principal, </a:t>
            </a:r>
            <a:r>
              <a:rPr lang="en-US" sz="1600" dirty="0" err="1">
                <a:solidFill>
                  <a:srgbClr val="5A7298"/>
                </a:solidFill>
              </a:rPr>
              <a:t>porque</a:t>
            </a:r>
            <a:r>
              <a:rPr lang="en-US" sz="1600" dirty="0">
                <a:solidFill>
                  <a:srgbClr val="5A7298"/>
                </a:solidFill>
              </a:rPr>
              <a:t> </a:t>
            </a:r>
            <a:r>
              <a:rPr lang="es-CO" sz="1600" dirty="0">
                <a:solidFill>
                  <a:srgbClr val="5A7298"/>
                </a:solidFill>
              </a:rPr>
              <a:t>las latencias web típicamente siguen distribución log-normal.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0665" y="1353312"/>
            <a:ext cx="870267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0665" y="1353312"/>
            <a:ext cx="66216" cy="1115568"/>
          </a:xfrm>
          <a:prstGeom prst="rect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349171" y="1654119"/>
            <a:ext cx="518831" cy="502920"/>
          </a:xfrm>
          <a:prstGeom prst="ellipse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49171" y="1654119"/>
            <a:ext cx="5188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43624" y="1234440"/>
            <a:ext cx="5122908" cy="602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4A"/>
                </a:solidFill>
              </a:rPr>
              <a:t>Línea Base Homogénea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70799" y="1426464"/>
            <a:ext cx="1335728" cy="256032"/>
          </a:xfrm>
          <a:prstGeom prst="rect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 sz="2000"/>
          </a:p>
        </p:txBody>
      </p:sp>
      <p:sp>
        <p:nvSpPr>
          <p:cNvPr id="12" name="Text 10"/>
          <p:cNvSpPr/>
          <p:nvPr/>
        </p:nvSpPr>
        <p:spPr>
          <a:xfrm>
            <a:off x="7370799" y="1426464"/>
            <a:ext cx="133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n=30 réplicas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87881" y="1588713"/>
            <a:ext cx="5122908" cy="602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threads · buffer M=64 · 100% archivos 10 KB · 50 conn/s · 30 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43624" y="1975104"/>
            <a:ext cx="5202683" cy="470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298"/>
                </a:solidFill>
              </a:rPr>
              <a:t>📊 Latencia media, p95, throughput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0" y="1810512"/>
            <a:ext cx="1435478" cy="578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3068"/>
                </a:solidFill>
              </a:rPr>
              <a:t>💡 FIFO ≈ SFF — sin diferencia esperada con archivos del mismo tamaño.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0665" y="2587752"/>
            <a:ext cx="870267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220665" y="2587752"/>
            <a:ext cx="66216" cy="11155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349171" y="2888559"/>
            <a:ext cx="518831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349171" y="2888559"/>
            <a:ext cx="5188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43624" y="2468880"/>
            <a:ext cx="5122908" cy="602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4A"/>
                </a:solidFill>
              </a:rPr>
              <a:t>Carga Heterogénea  ★ Principal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70799" y="2660904"/>
            <a:ext cx="1335728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 sz="2000"/>
          </a:p>
        </p:txBody>
      </p:sp>
      <p:sp>
        <p:nvSpPr>
          <p:cNvPr id="22" name="Text 20"/>
          <p:cNvSpPr/>
          <p:nvPr/>
        </p:nvSpPr>
        <p:spPr>
          <a:xfrm>
            <a:off x="7370799" y="2660904"/>
            <a:ext cx="133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n=40 réplicas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7881" y="2823153"/>
            <a:ext cx="5122908" cy="5274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threads · buffer M=64 · 80% small (10 KB) + 20% large (500 KB) · 100 conn/s · 60 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43624" y="3209544"/>
            <a:ext cx="5202683" cy="470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298"/>
                </a:solidFill>
              </a:rPr>
              <a:t>📊 Latencia small/large por separado, p95, p99, throughput, fairness CV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0" y="2990088"/>
            <a:ext cx="143547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565C0"/>
                </a:solidFill>
              </a:rPr>
              <a:t>💡 SFF reduce </a:t>
            </a:r>
            <a:r>
              <a:rPr lang="en-US" sz="1000" i="1" dirty="0" err="1">
                <a:solidFill>
                  <a:srgbClr val="1565C0"/>
                </a:solidFill>
              </a:rPr>
              <a:t>latencia</a:t>
            </a:r>
            <a:r>
              <a:rPr lang="en-US" sz="1000" i="1" dirty="0">
                <a:solidFill>
                  <a:srgbClr val="1565C0"/>
                </a:solidFill>
              </a:rPr>
              <a:t> </a:t>
            </a:r>
            <a:r>
              <a:rPr lang="en-US" sz="1000" i="1" dirty="0" err="1">
                <a:solidFill>
                  <a:srgbClr val="1565C0"/>
                </a:solidFill>
              </a:rPr>
              <a:t>en</a:t>
            </a:r>
            <a:r>
              <a:rPr lang="en-US" sz="1000" i="1" dirty="0">
                <a:solidFill>
                  <a:srgbClr val="1565C0"/>
                </a:solidFill>
              </a:rPr>
              <a:t> pequeños; FIFO ofrece menor varianza (mejor fairness).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0665" y="3822192"/>
            <a:ext cx="870267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220665" y="3822192"/>
            <a:ext cx="66216" cy="11155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349171" y="4122999"/>
            <a:ext cx="518831" cy="50292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29" name="Text 27"/>
          <p:cNvSpPr/>
          <p:nvPr/>
        </p:nvSpPr>
        <p:spPr>
          <a:xfrm>
            <a:off x="349171" y="4122999"/>
            <a:ext cx="5188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43624" y="3703320"/>
            <a:ext cx="5122908" cy="602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4A"/>
                </a:solidFill>
              </a:rPr>
              <a:t>Saturación / Stress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370799" y="3895344"/>
            <a:ext cx="1335728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CO" sz="2000"/>
          </a:p>
        </p:txBody>
      </p:sp>
      <p:sp>
        <p:nvSpPr>
          <p:cNvPr id="32" name="Text 30"/>
          <p:cNvSpPr/>
          <p:nvPr/>
        </p:nvSpPr>
        <p:spPr>
          <a:xfrm>
            <a:off x="7370799" y="3895344"/>
            <a:ext cx="133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n=30 réplicas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87881" y="4057593"/>
            <a:ext cx="5122908" cy="5274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threads · buffer M=64 · mix igual que B · 500 conn/s · 60 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43624" y="4443984"/>
            <a:ext cx="5202683" cy="470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298"/>
                </a:solidFill>
              </a:rPr>
              <a:t>📊 Latencia máxima, p99, tasa de errores, starvation observable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0" y="4224528"/>
            <a:ext cx="1435478" cy="6497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62828"/>
                </a:solidFill>
              </a:rPr>
              <a:t>💡 SFF provoca starvation medible en archivos grandes bajo alta carga.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– </a:t>
            </a:r>
            <a:r>
              <a:rPr lang="en-US" sz="30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</a:t>
            </a:r>
            <a:r>
              <a:rPr lang="en-US" sz="3000" b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3000" dirty="0">
              <a:solidFill>
                <a:srgbClr val="00B05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182880" y="1866519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182880" y="1866519"/>
            <a:ext cx="64008" cy="1188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20040" y="2212848"/>
            <a:ext cx="502920" cy="50292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CO" sz="2800"/>
          </a:p>
        </p:txBody>
      </p:sp>
      <p:sp>
        <p:nvSpPr>
          <p:cNvPr id="8" name="Text 6"/>
          <p:cNvSpPr/>
          <p:nvPr/>
        </p:nvSpPr>
        <p:spPr>
          <a:xfrm>
            <a:off x="320040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976247"/>
            <a:ext cx="33375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wserver.c pasó de un loop serial a un pool de N threads + acceptor dedicado, con parámetros configurables -t -b -s.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866519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572000" y="1866519"/>
            <a:ext cx="64008" cy="1188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4709160" y="2212848"/>
            <a:ext cx="502920" cy="50292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s-CO" sz="2800"/>
          </a:p>
        </p:txBody>
      </p:sp>
      <p:sp>
        <p:nvSpPr>
          <p:cNvPr id="13" name="Text 11"/>
          <p:cNvSpPr/>
          <p:nvPr/>
        </p:nvSpPr>
        <p:spPr>
          <a:xfrm>
            <a:off x="4709160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82880" y="3192399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sz="2800"/>
          </a:p>
        </p:txBody>
      </p:sp>
      <p:sp>
        <p:nvSpPr>
          <p:cNvPr id="16" name="Shape 14"/>
          <p:cNvSpPr/>
          <p:nvPr/>
        </p:nvSpPr>
        <p:spPr>
          <a:xfrm>
            <a:off x="182880" y="3192399"/>
            <a:ext cx="64008" cy="1188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CO" sz="2800"/>
          </a:p>
        </p:txBody>
      </p:sp>
      <p:sp>
        <p:nvSpPr>
          <p:cNvPr id="17" name="Shape 15"/>
          <p:cNvSpPr/>
          <p:nvPr/>
        </p:nvSpPr>
        <p:spPr>
          <a:xfrm>
            <a:off x="320040" y="3538728"/>
            <a:ext cx="502920" cy="50292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CO" sz="2800"/>
          </a:p>
        </p:txBody>
      </p:sp>
      <p:sp>
        <p:nvSpPr>
          <p:cNvPr id="18" name="Text 16"/>
          <p:cNvSpPr/>
          <p:nvPr/>
        </p:nvSpPr>
        <p:spPr>
          <a:xfrm>
            <a:off x="320040" y="3538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572000" y="3192399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sz="2800" dirty="0"/>
          </a:p>
        </p:txBody>
      </p:sp>
      <p:sp>
        <p:nvSpPr>
          <p:cNvPr id="21" name="Shape 19"/>
          <p:cNvSpPr/>
          <p:nvPr/>
        </p:nvSpPr>
        <p:spPr>
          <a:xfrm>
            <a:off x="4572000" y="3192399"/>
            <a:ext cx="64008" cy="1188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s-CO" sz="2800"/>
          </a:p>
        </p:txBody>
      </p:sp>
      <p:sp>
        <p:nvSpPr>
          <p:cNvPr id="22" name="Shape 20"/>
          <p:cNvSpPr/>
          <p:nvPr/>
        </p:nvSpPr>
        <p:spPr>
          <a:xfrm>
            <a:off x="4709160" y="3538728"/>
            <a:ext cx="502920" cy="50292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s-CO" sz="2800"/>
          </a:p>
        </p:txBody>
      </p:sp>
      <p:sp>
        <p:nvSpPr>
          <p:cNvPr id="23" name="Text 21"/>
          <p:cNvSpPr/>
          <p:nvPr/>
        </p:nvSpPr>
        <p:spPr>
          <a:xfrm>
            <a:off x="4709160" y="3538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60120" y="3312855"/>
            <a:ext cx="33375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buffer.c implementa el patrón productor-consumidor con mutex + cond_vars. </a:t>
            </a:r>
            <a:r>
              <a:rPr lang="en-US" sz="1200" dirty="0" err="1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Aplicando</a:t>
            </a:r>
            <a:r>
              <a:rPr lang="en-US" sz="1200" dirty="0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correctamente</a:t>
            </a:r>
            <a:r>
              <a:rPr lang="en-US" sz="1200" dirty="0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las </a:t>
            </a:r>
            <a:r>
              <a:rPr lang="en-US" sz="1200" dirty="0" err="1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politicas</a:t>
            </a:r>
            <a:r>
              <a:rPr lang="en-US" sz="1200" dirty="0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Scheduling FIFO O(1) y SFF O(n) comparten la misma interfaz.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7037" y="4615434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Universidad de Antioquia  ·  Sistemas Operativos 2026  ·  Samuel Puerta Patiño</a:t>
            </a:r>
            <a:endParaRPr lang="en-US" sz="11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C10CA4-9C30-57E8-8782-44707B121B00}"/>
              </a:ext>
            </a:extLst>
          </p:cNvPr>
          <p:cNvSpPr txBox="1"/>
          <p:nvPr/>
        </p:nvSpPr>
        <p:spPr>
          <a:xfrm>
            <a:off x="4709160" y="1421213"/>
            <a:ext cx="457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</a:t>
            </a:r>
            <a:r>
              <a:rPr lang="en-US" sz="20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</a:t>
            </a:r>
            <a:r>
              <a:rPr lang="en-US" sz="20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s-CO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B72D8F-BC99-E64F-C85E-25E64BBAA6B9}"/>
              </a:ext>
            </a:extLst>
          </p:cNvPr>
          <p:cNvSpPr txBox="1"/>
          <p:nvPr/>
        </p:nvSpPr>
        <p:spPr>
          <a:xfrm>
            <a:off x="214884" y="1421213"/>
            <a:ext cx="457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</a:t>
            </a:r>
            <a:r>
              <a:rPr lang="en-US" sz="20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2000" b="1" dirty="0" err="1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implemento</a:t>
            </a:r>
            <a:r>
              <a:rPr lang="en-US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s-CO" dirty="0">
              <a:solidFill>
                <a:srgbClr val="00B0F0"/>
              </a:solidFill>
            </a:endParaRPr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14604C59-ECCE-2470-E8D8-83E03ACDE6DA}"/>
              </a:ext>
            </a:extLst>
          </p:cNvPr>
          <p:cNvSpPr/>
          <p:nvPr/>
        </p:nvSpPr>
        <p:spPr>
          <a:xfrm>
            <a:off x="5285232" y="1970958"/>
            <a:ext cx="33375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original del </a:t>
            </a:r>
            <a:r>
              <a:rPr lang="en-US" sz="1200" dirty="0" err="1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</a:t>
            </a:r>
            <a:r>
              <a:rPr lang="en-US" sz="1200" dirty="0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traía</a:t>
            </a:r>
            <a:r>
              <a:rPr lang="en-US" sz="1200" dirty="0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200" dirty="0" err="1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r>
              <a:rPr lang="en-US" sz="1200" dirty="0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200" dirty="0" err="1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r>
              <a:rPr lang="en-US" sz="1200" dirty="0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secuenciales</a:t>
            </a:r>
            <a:r>
              <a:rPr lang="en-US" sz="1200" dirty="0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 </a:t>
            </a:r>
            <a:r>
              <a:rPr lang="en-US" sz="1200" dirty="0" err="1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pretende</a:t>
            </a:r>
            <a:r>
              <a:rPr lang="en-US" sz="1200" dirty="0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</a:t>
            </a:r>
            <a:r>
              <a:rPr lang="en-US" sz="1200" dirty="0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Cliente para </a:t>
            </a:r>
            <a:r>
              <a:rPr lang="en-US" sz="1200" dirty="0" err="1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explotar</a:t>
            </a:r>
            <a:r>
              <a:rPr lang="en-US" sz="1200" dirty="0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200" dirty="0" err="1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concurrencia</a:t>
            </a:r>
            <a:r>
              <a:rPr lang="en-US" sz="1200" dirty="0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server para las </a:t>
            </a:r>
            <a:r>
              <a:rPr lang="en-US" sz="1200" dirty="0" err="1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r>
              <a:rPr lang="en-US" sz="1200" dirty="0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Python.</a:t>
            </a:r>
            <a:endParaRPr lang="en-US" sz="1200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37AF815F-435F-12D7-4A76-19D6527EF6CE}"/>
              </a:ext>
            </a:extLst>
          </p:cNvPr>
          <p:cNvSpPr/>
          <p:nvPr/>
        </p:nvSpPr>
        <p:spPr>
          <a:xfrm>
            <a:off x="5349240" y="3302127"/>
            <a:ext cx="33375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</a:t>
            </a:r>
            <a:r>
              <a:rPr lang="en-US" sz="1200" dirty="0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200" dirty="0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scripts </a:t>
            </a:r>
            <a:r>
              <a:rPr lang="en-US" sz="1200" dirty="0" err="1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200" dirty="0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ejecuten</a:t>
            </a:r>
            <a:r>
              <a:rPr lang="en-US" sz="1200" dirty="0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automaticamente</a:t>
            </a:r>
            <a:r>
              <a:rPr lang="en-US" sz="1200" dirty="0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las </a:t>
            </a:r>
            <a:r>
              <a:rPr lang="en-US" sz="1200" dirty="0" err="1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r>
              <a:rPr lang="en-US" sz="1200" dirty="0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dirty="0" err="1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200" dirty="0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</a:t>
            </a:r>
            <a:r>
              <a:rPr lang="en-US" sz="1200" dirty="0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planteados</a:t>
            </a:r>
            <a:r>
              <a:rPr lang="en-US" sz="1200" dirty="0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 un </a:t>
            </a:r>
            <a:r>
              <a:rPr lang="en-US" sz="1200" dirty="0" err="1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</a:t>
            </a:r>
            <a:r>
              <a:rPr lang="en-US" sz="1200" dirty="0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python para </a:t>
            </a:r>
            <a:r>
              <a:rPr lang="en-US" sz="1200" dirty="0" err="1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</a:t>
            </a:r>
            <a:r>
              <a:rPr lang="en-US" sz="1200" dirty="0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200" dirty="0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</a:t>
            </a:r>
            <a:r>
              <a:rPr lang="en-US" sz="1200" dirty="0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dirty="0" err="1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200" dirty="0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dirty="0" err="1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200" dirty="0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r>
              <a:rPr lang="en-US" sz="1200" dirty="0">
                <a:solidFill>
                  <a:srgbClr val="3A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2560</Words>
  <Application>Microsoft Office PowerPoint</Application>
  <PresentationFormat>On-screen Show (16:9)</PresentationFormat>
  <Paragraphs>205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Servidor Web Concurrente – FIFO/SFF</dc:title>
  <dc:subject>PptxGenJS Presentation</dc:subject>
  <dc:creator>PptxGenJS</dc:creator>
  <cp:lastModifiedBy>SAMUEL PUERTA PATINO</cp:lastModifiedBy>
  <cp:revision>5</cp:revision>
  <dcterms:created xsi:type="dcterms:W3CDTF">2026-05-08T07:12:30Z</dcterms:created>
  <dcterms:modified xsi:type="dcterms:W3CDTF">2026-05-08T21:45:44Z</dcterms:modified>
</cp:coreProperties>
</file>